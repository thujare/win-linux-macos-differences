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sldIdLst>
    <p:sldId id="256" r:id="rId2"/>
    <p:sldId id="257" r:id="rId3"/>
    <p:sldId id="258" r:id="rId4"/>
    <p:sldId id="259" r:id="rId5"/>
    <p:sldId id="260" r:id="rId6"/>
    <p:sldId id="261" r:id="rId7"/>
    <p:sldId id="262" r:id="rId8"/>
    <p:sldId id="263" r:id="rId9"/>
    <p:sldId id="264" r:id="rId10"/>
    <p:sldId id="265" r:id="rId11"/>
    <p:sldId id="267" r:id="rId12"/>
    <p:sldId id="270" r:id="rId13"/>
    <p:sldId id="271" r:id="rId14"/>
    <p:sldId id="273" r:id="rId15"/>
    <p:sldId id="274" r:id="rId16"/>
    <p:sldId id="275"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et Sarı" initials="SS" lastIdx="2" clrIdx="0">
    <p:extLst>
      <p:ext uri="{19B8F6BF-5375-455C-9EA6-DF929625EA0E}">
        <p15:presenceInfo xmlns:p15="http://schemas.microsoft.com/office/powerpoint/2012/main" userId="Samet Sarı"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69465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73731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288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128142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57157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815930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810149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72215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511596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093261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11/18/2021</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566528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11/18/2021</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2834794204"/>
      </p:ext>
    </p:extLst>
  </p:cSld>
  <p:clrMap bg1="dk1" tx1="lt1" bg2="dk2" tx2="lt2" accent1="accent1" accent2="accent2" accent3="accent3" accent4="accent4" accent5="accent5" accent6="accent6" hlink="hlink" folHlink="folHlink"/>
  <p:sldLayoutIdLst>
    <p:sldLayoutId id="2147483819" r:id="rId1"/>
    <p:sldLayoutId id="2147483820" r:id="rId2"/>
    <p:sldLayoutId id="2147483821" r:id="rId3"/>
    <p:sldLayoutId id="2147483811" r:id="rId4"/>
    <p:sldLayoutId id="2147483812" r:id="rId5"/>
    <p:sldLayoutId id="2147483817" r:id="rId6"/>
    <p:sldLayoutId id="2147483813" r:id="rId7"/>
    <p:sldLayoutId id="2147483814" r:id="rId8"/>
    <p:sldLayoutId id="2147483815" r:id="rId9"/>
    <p:sldLayoutId id="2147483816" r:id="rId10"/>
    <p:sldLayoutId id="2147483818"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web.hitit.edu.tr/dosyalar/duyurular/mustafacosar@hititedutr201020141S8E1N1P.pdf" TargetMode="External"/><Relationship Id="rId3" Type="http://schemas.openxmlformats.org/officeDocument/2006/relationships/hyperlink" Target="https://forum.shiftdelete.net/konular/mac-os-windows-linux-isletim-sistemleri-hakkinda.610735/" TargetMode="External"/><Relationship Id="rId7" Type="http://schemas.openxmlformats.org/officeDocument/2006/relationships/hyperlink" Target="https://www.educba.com/linux-vs-mac-vs-windows/" TargetMode="External"/><Relationship Id="rId2" Type="http://schemas.openxmlformats.org/officeDocument/2006/relationships/hyperlink" Target="https://tr.wikipedia.org/wiki/Anasayfa" TargetMode="External"/><Relationship Id="rId1" Type="http://schemas.openxmlformats.org/officeDocument/2006/relationships/slideLayout" Target="../slideLayouts/slideLayout2.xml"/><Relationship Id="rId6" Type="http://schemas.openxmlformats.org/officeDocument/2006/relationships/hyperlink" Target="https://web.karabuk.edu.tr/ismail.karas/113/IsletimSistemleri.pdf" TargetMode="External"/><Relationship Id="rId5" Type="http://schemas.openxmlformats.org/officeDocument/2006/relationships/hyperlink" Target="http://www.informatics-tech.com/linux-vs-mac-vs-windows-unbiased-comparison.html" TargetMode="External"/><Relationship Id="rId4" Type="http://schemas.openxmlformats.org/officeDocument/2006/relationships/hyperlink" Target="https://www.teknoloji6.com/mac-isletim-sistemi-nedir-94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3" name="Rectangle 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73F3C0-E77D-4E32-AABE-F6D22A156C12}"/>
              </a:ext>
            </a:extLst>
          </p:cNvPr>
          <p:cNvSpPr>
            <a:spLocks noGrp="1"/>
          </p:cNvSpPr>
          <p:nvPr>
            <p:ph type="ctrTitle"/>
          </p:nvPr>
        </p:nvSpPr>
        <p:spPr>
          <a:xfrm>
            <a:off x="1079510" y="4602162"/>
            <a:ext cx="4457690" cy="1720850"/>
          </a:xfrm>
        </p:spPr>
        <p:txBody>
          <a:bodyPr anchor="ctr">
            <a:normAutofit/>
          </a:bodyPr>
          <a:lstStyle/>
          <a:p>
            <a:r>
              <a:rPr lang="tr-TR" sz="3600" dirty="0"/>
              <a:t>İŞLETİM SİSTEMLERİ</a:t>
            </a:r>
          </a:p>
        </p:txBody>
      </p:sp>
      <p:sp>
        <p:nvSpPr>
          <p:cNvPr id="3" name="Subtitle 2">
            <a:extLst>
              <a:ext uri="{FF2B5EF4-FFF2-40B4-BE49-F238E27FC236}">
                <a16:creationId xmlns:a16="http://schemas.microsoft.com/office/drawing/2014/main" id="{E22642FF-745F-498A-9F05-FEBE04CCF567}"/>
              </a:ext>
            </a:extLst>
          </p:cNvPr>
          <p:cNvSpPr>
            <a:spLocks noGrp="1"/>
          </p:cNvSpPr>
          <p:nvPr>
            <p:ph type="subTitle" idx="1"/>
          </p:nvPr>
        </p:nvSpPr>
        <p:spPr>
          <a:xfrm>
            <a:off x="6654801" y="4602163"/>
            <a:ext cx="4451347" cy="1720850"/>
          </a:xfrm>
        </p:spPr>
        <p:txBody>
          <a:bodyPr anchor="ctr">
            <a:noAutofit/>
          </a:bodyPr>
          <a:lstStyle/>
          <a:p>
            <a:pPr>
              <a:lnSpc>
                <a:spcPct val="115000"/>
              </a:lnSpc>
            </a:pPr>
            <a:r>
              <a:rPr lang="tr-TR" sz="1700" dirty="0"/>
              <a:t>Recep Tayyip Erdoğan Üniversitesi</a:t>
            </a:r>
          </a:p>
          <a:p>
            <a:pPr>
              <a:lnSpc>
                <a:spcPct val="115000"/>
              </a:lnSpc>
            </a:pPr>
            <a:r>
              <a:rPr lang="tr-TR" sz="1700" dirty="0"/>
              <a:t>Mühendislik ve Mimarlık Fakültesi</a:t>
            </a:r>
          </a:p>
          <a:p>
            <a:pPr>
              <a:lnSpc>
                <a:spcPct val="115000"/>
              </a:lnSpc>
            </a:pPr>
            <a:r>
              <a:rPr lang="tr-TR" sz="1700" dirty="0"/>
              <a:t>Bilgisayar Mühendisliği Bölümü</a:t>
            </a:r>
          </a:p>
          <a:p>
            <a:pPr>
              <a:lnSpc>
                <a:spcPct val="115000"/>
              </a:lnSpc>
            </a:pPr>
            <a:r>
              <a:rPr lang="tr-TR" sz="1700" dirty="0"/>
              <a:t>Danışman: Prof. Dr. Yıldıran YILMAZ</a:t>
            </a:r>
          </a:p>
          <a:p>
            <a:pPr>
              <a:lnSpc>
                <a:spcPct val="115000"/>
              </a:lnSpc>
            </a:pPr>
            <a:r>
              <a:rPr lang="tr-TR" sz="1700" dirty="0"/>
              <a:t>Samet SARI</a:t>
            </a:r>
          </a:p>
          <a:p>
            <a:pPr>
              <a:lnSpc>
                <a:spcPct val="115000"/>
              </a:lnSpc>
            </a:pPr>
            <a:r>
              <a:rPr lang="tr-TR" sz="1700" dirty="0"/>
              <a:t>11/18/2021</a:t>
            </a:r>
          </a:p>
        </p:txBody>
      </p:sp>
      <p:pic>
        <p:nvPicPr>
          <p:cNvPr id="64" name="Picture 3" descr="Background pattern&#10;&#10;Description automatically generated">
            <a:extLst>
              <a:ext uri="{FF2B5EF4-FFF2-40B4-BE49-F238E27FC236}">
                <a16:creationId xmlns:a16="http://schemas.microsoft.com/office/drawing/2014/main" id="{323C40F4-3CBC-4BF2-94E0-9E6DFBDE82CC}"/>
              </a:ext>
            </a:extLst>
          </p:cNvPr>
          <p:cNvPicPr>
            <a:picLocks noChangeAspect="1"/>
          </p:cNvPicPr>
          <p:nvPr/>
        </p:nvPicPr>
        <p:blipFill rotWithShape="1">
          <a:blip r:embed="rId2"/>
          <a:srcRect t="10138" b="24003"/>
          <a:stretch/>
        </p:blipFill>
        <p:spPr>
          <a:xfrm>
            <a:off x="20" y="10"/>
            <a:ext cx="12191977" cy="4014777"/>
          </a:xfrm>
          <a:prstGeom prst="rect">
            <a:avLst/>
          </a:prstGeom>
        </p:spPr>
      </p:pic>
      <p:cxnSp>
        <p:nvCxnSpPr>
          <p:cNvPr id="65" name="Straight Connector 10">
            <a:extLst>
              <a:ext uri="{FF2B5EF4-FFF2-40B4-BE49-F238E27FC236}">
                <a16:creationId xmlns:a16="http://schemas.microsoft.com/office/drawing/2014/main" id="{32E97E5C-7A5F-424E-AAE4-654396E907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5826000" y="546258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733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56FC5-ED69-406C-9192-D893F2FD8E16}"/>
              </a:ext>
            </a:extLst>
          </p:cNvPr>
          <p:cNvSpPr>
            <a:spLocks noGrp="1"/>
          </p:cNvSpPr>
          <p:nvPr>
            <p:ph type="title"/>
          </p:nvPr>
        </p:nvSpPr>
        <p:spPr/>
        <p:txBody>
          <a:bodyPr/>
          <a:lstStyle/>
          <a:p>
            <a:r>
              <a:rPr lang="tr-TR" dirty="0"/>
              <a:t>İşletim sistemi nedir?</a:t>
            </a:r>
          </a:p>
        </p:txBody>
      </p:sp>
      <p:sp>
        <p:nvSpPr>
          <p:cNvPr id="3" name="Content Placeholder 2">
            <a:extLst>
              <a:ext uri="{FF2B5EF4-FFF2-40B4-BE49-F238E27FC236}">
                <a16:creationId xmlns:a16="http://schemas.microsoft.com/office/drawing/2014/main" id="{DD935AFB-F5A7-4B6A-B3B1-3490247BAFCD}"/>
              </a:ext>
            </a:extLst>
          </p:cNvPr>
          <p:cNvSpPr>
            <a:spLocks noGrp="1"/>
          </p:cNvSpPr>
          <p:nvPr>
            <p:ph idx="1"/>
          </p:nvPr>
        </p:nvSpPr>
        <p:spPr/>
        <p:txBody>
          <a:bodyPr/>
          <a:lstStyle/>
          <a:p>
            <a:r>
              <a:rPr lang="tr-TR" sz="2400" b="1" i="0" dirty="0">
                <a:solidFill>
                  <a:schemeClr val="tx1">
                    <a:lumMod val="65000"/>
                  </a:schemeClr>
                </a:solidFill>
                <a:effectLst/>
                <a:latin typeface="Arial" panose="020B0604020202020204" pitchFamily="34" charset="0"/>
              </a:rPr>
              <a:t>İşletim sistemi</a:t>
            </a:r>
            <a:r>
              <a:rPr lang="tr-TR" sz="2400" b="0" i="0" dirty="0">
                <a:solidFill>
                  <a:schemeClr val="tx1">
                    <a:lumMod val="65000"/>
                  </a:schemeClr>
                </a:solidFill>
                <a:effectLst/>
                <a:latin typeface="Arial" panose="020B0604020202020204" pitchFamily="34" charset="0"/>
              </a:rPr>
              <a:t>; bilgisayarda çalışan donanım kaynaklarını yöneten ve çeşitli uygulama yazılımları için yaygın servisleri sağlayan bir yazılımlar bütünüdür</a:t>
            </a:r>
            <a:r>
              <a:rPr lang="tr-TR" sz="2400" dirty="0">
                <a:solidFill>
                  <a:schemeClr val="tx1">
                    <a:lumMod val="65000"/>
                  </a:schemeClr>
                </a:solidFill>
                <a:latin typeface="Arial" panose="020B0604020202020204" pitchFamily="34" charset="0"/>
              </a:rPr>
              <a:t>.</a:t>
            </a:r>
            <a:endParaRPr lang="tr-TR" sz="2400" b="0" i="0" dirty="0">
              <a:solidFill>
                <a:schemeClr val="tx1">
                  <a:lumMod val="65000"/>
                </a:schemeClr>
              </a:solidFill>
              <a:effectLst/>
              <a:latin typeface="Arial" panose="020B0604020202020204" pitchFamily="34" charset="0"/>
            </a:endParaRPr>
          </a:p>
          <a:p>
            <a:r>
              <a:rPr lang="tr-TR" sz="2400" dirty="0"/>
              <a:t>Bir işletim sistemi, herhangi bir sistemin omurgası olarak kabul edilir. İşletim sistemi olmadan kullanıcı ve sistem etkileşime giremez. Bu ikisi arasında arabulucu görevi görür. Temel olarak Linux, MAC ve Windows olmak üzere üç tür işletim sistemimiz var.</a:t>
            </a:r>
          </a:p>
          <a:p>
            <a:endParaRPr lang="tr-TR" dirty="0"/>
          </a:p>
        </p:txBody>
      </p:sp>
      <p:pic>
        <p:nvPicPr>
          <p:cNvPr id="13" name="Picture 12" descr="A picture containing text&#10;&#10;Description automatically generated">
            <a:extLst>
              <a:ext uri="{FF2B5EF4-FFF2-40B4-BE49-F238E27FC236}">
                <a16:creationId xmlns:a16="http://schemas.microsoft.com/office/drawing/2014/main" id="{28F73865-D4DC-4E76-8057-C8623E5E26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8346" y="5037967"/>
            <a:ext cx="3634154" cy="1462016"/>
          </a:xfrm>
          <a:prstGeom prst="rect">
            <a:avLst/>
          </a:prstGeom>
        </p:spPr>
      </p:pic>
    </p:spTree>
    <p:extLst>
      <p:ext uri="{BB962C8B-B14F-4D97-AF65-F5344CB8AC3E}">
        <p14:creationId xmlns:p14="http://schemas.microsoft.com/office/powerpoint/2010/main" val="351504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8D559-9932-4942-ABCB-DC015F2ECED8}"/>
              </a:ext>
            </a:extLst>
          </p:cNvPr>
          <p:cNvSpPr>
            <a:spLocks noGrp="1"/>
          </p:cNvSpPr>
          <p:nvPr>
            <p:ph type="title"/>
          </p:nvPr>
        </p:nvSpPr>
        <p:spPr/>
        <p:txBody>
          <a:bodyPr/>
          <a:lstStyle/>
          <a:p>
            <a:r>
              <a:rPr lang="tr-TR" dirty="0"/>
              <a:t>Microsoft Windows işletim sistemi </a:t>
            </a:r>
          </a:p>
        </p:txBody>
      </p:sp>
      <p:sp>
        <p:nvSpPr>
          <p:cNvPr id="3" name="Content Placeholder 2">
            <a:extLst>
              <a:ext uri="{FF2B5EF4-FFF2-40B4-BE49-F238E27FC236}">
                <a16:creationId xmlns:a16="http://schemas.microsoft.com/office/drawing/2014/main" id="{C7745C6B-A412-42CC-9B66-AF25F5C10DB2}"/>
              </a:ext>
            </a:extLst>
          </p:cNvPr>
          <p:cNvSpPr>
            <a:spLocks noGrp="1"/>
          </p:cNvSpPr>
          <p:nvPr>
            <p:ph idx="1"/>
          </p:nvPr>
        </p:nvSpPr>
        <p:spPr>
          <a:xfrm>
            <a:off x="1079500" y="1790700"/>
            <a:ext cx="10026650" cy="2669005"/>
          </a:xfrm>
        </p:spPr>
        <p:txBody>
          <a:bodyPr>
            <a:normAutofit/>
          </a:bodyPr>
          <a:lstStyle/>
          <a:p>
            <a:r>
              <a:rPr lang="tr-TR" sz="2400" b="1" i="0" dirty="0">
                <a:solidFill>
                  <a:schemeClr val="tx1">
                    <a:lumMod val="65000"/>
                  </a:schemeClr>
                </a:solidFill>
                <a:effectLst/>
                <a:latin typeface="Signika Negative"/>
              </a:rPr>
              <a:t>Microsoft Windows</a:t>
            </a:r>
            <a:r>
              <a:rPr lang="tr-TR" sz="2400" b="0" i="0" dirty="0">
                <a:solidFill>
                  <a:schemeClr val="tx1">
                    <a:lumMod val="65000"/>
                  </a:schemeClr>
                </a:solidFill>
                <a:effectLst/>
                <a:latin typeface="Signika Negative"/>
              </a:rPr>
              <a:t>, kullanıcıya grafik arabirimler ve görsel iletilerle yaklaşarak, yazılımları çalıştırmak, komut vermek gibi klavyeden yazma zorunluluğunu ortadan kaldıran, </a:t>
            </a:r>
            <a:r>
              <a:rPr lang="tr-TR" sz="2400" i="0" dirty="0">
                <a:solidFill>
                  <a:schemeClr val="tx1">
                    <a:lumMod val="65000"/>
                  </a:schemeClr>
                </a:solidFill>
                <a:effectLst/>
                <a:latin typeface="Signika Negative"/>
              </a:rPr>
              <a:t>Microsoft</a:t>
            </a:r>
            <a:r>
              <a:rPr lang="tr-TR" sz="2400" b="0" i="0" dirty="0">
                <a:solidFill>
                  <a:schemeClr val="tx1">
                    <a:lumMod val="65000"/>
                  </a:schemeClr>
                </a:solidFill>
                <a:effectLst/>
                <a:latin typeface="Signika Negative"/>
              </a:rPr>
              <a:t> şirketinin geliştirdiği dünyada en çok kullanılan işletim sistemidir.</a:t>
            </a:r>
          </a:p>
          <a:p>
            <a:r>
              <a:rPr lang="tr-TR" sz="2400" b="0" i="0" dirty="0">
                <a:solidFill>
                  <a:schemeClr val="tx1">
                    <a:lumMod val="65000"/>
                  </a:schemeClr>
                </a:solidFill>
                <a:effectLst/>
                <a:latin typeface="Signika Negative"/>
              </a:rPr>
              <a:t>İlk</a:t>
            </a:r>
            <a:r>
              <a:rPr lang="tr-TR" sz="2400" i="0" dirty="0">
                <a:solidFill>
                  <a:schemeClr val="tx1">
                    <a:lumMod val="65000"/>
                  </a:schemeClr>
                </a:solidFill>
                <a:effectLst/>
                <a:latin typeface="Signika Negative"/>
              </a:rPr>
              <a:t> Windows </a:t>
            </a:r>
            <a:r>
              <a:rPr lang="tr-TR" sz="2400" b="0" i="0" dirty="0">
                <a:solidFill>
                  <a:schemeClr val="tx1">
                    <a:lumMod val="65000"/>
                  </a:schemeClr>
                </a:solidFill>
                <a:effectLst/>
                <a:latin typeface="Signika Negative"/>
              </a:rPr>
              <a:t>20 Kasım 1985 tarihinde piyasaya sunulmuştur.</a:t>
            </a:r>
            <a:endParaRPr lang="tr-TR" sz="2400" dirty="0">
              <a:solidFill>
                <a:schemeClr val="tx1">
                  <a:lumMod val="65000"/>
                </a:schemeClr>
              </a:solidFill>
            </a:endParaRPr>
          </a:p>
        </p:txBody>
      </p:sp>
      <p:pic>
        <p:nvPicPr>
          <p:cNvPr id="5" name="Picture 4" descr="Logo&#10;&#10;Description automatically generated with medium confidence">
            <a:extLst>
              <a:ext uri="{FF2B5EF4-FFF2-40B4-BE49-F238E27FC236}">
                <a16:creationId xmlns:a16="http://schemas.microsoft.com/office/drawing/2014/main" id="{4F7D8CD7-9F06-41AB-B523-18D71A4DF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079" y="4583531"/>
            <a:ext cx="4148429" cy="879466"/>
          </a:xfrm>
          <a:prstGeom prst="rect">
            <a:avLst/>
          </a:prstGeom>
        </p:spPr>
      </p:pic>
    </p:spTree>
    <p:extLst>
      <p:ext uri="{BB962C8B-B14F-4D97-AF65-F5344CB8AC3E}">
        <p14:creationId xmlns:p14="http://schemas.microsoft.com/office/powerpoint/2010/main" val="2857443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1481-6A0E-4D08-B44E-33F4492FE65C}"/>
              </a:ext>
            </a:extLst>
          </p:cNvPr>
          <p:cNvSpPr>
            <a:spLocks noGrp="1"/>
          </p:cNvSpPr>
          <p:nvPr>
            <p:ph type="title"/>
          </p:nvPr>
        </p:nvSpPr>
        <p:spPr/>
        <p:txBody>
          <a:bodyPr/>
          <a:lstStyle/>
          <a:p>
            <a:r>
              <a:rPr lang="tr-TR" dirty="0"/>
              <a:t>Microsoft Windows işletim sistemi </a:t>
            </a:r>
          </a:p>
        </p:txBody>
      </p:sp>
      <p:sp>
        <p:nvSpPr>
          <p:cNvPr id="3" name="Content Placeholder 2">
            <a:extLst>
              <a:ext uri="{FF2B5EF4-FFF2-40B4-BE49-F238E27FC236}">
                <a16:creationId xmlns:a16="http://schemas.microsoft.com/office/drawing/2014/main" id="{2C738582-8B0F-4811-9021-D727E122A8E0}"/>
              </a:ext>
            </a:extLst>
          </p:cNvPr>
          <p:cNvSpPr>
            <a:spLocks noGrp="1"/>
          </p:cNvSpPr>
          <p:nvPr>
            <p:ph idx="1"/>
          </p:nvPr>
        </p:nvSpPr>
        <p:spPr/>
        <p:txBody>
          <a:bodyPr>
            <a:normAutofit/>
          </a:bodyPr>
          <a:lstStyle/>
          <a:p>
            <a:r>
              <a:rPr lang="tr-TR" sz="2400" i="0" dirty="0">
                <a:solidFill>
                  <a:schemeClr val="tx1">
                    <a:lumMod val="65000"/>
                  </a:schemeClr>
                </a:solidFill>
                <a:effectLst/>
                <a:latin typeface="Signika Negative"/>
              </a:rPr>
              <a:t>Microsoft Windows işletim sisteminin son versiyonu </a:t>
            </a:r>
            <a:r>
              <a:rPr lang="tr-TR" sz="2400" b="0" i="0" dirty="0">
                <a:solidFill>
                  <a:schemeClr val="tx1">
                    <a:lumMod val="65000"/>
                  </a:schemeClr>
                </a:solidFill>
                <a:effectLst/>
                <a:latin typeface="Arial" panose="020B0604020202020204" pitchFamily="34" charset="0"/>
              </a:rPr>
              <a:t>5 Ekim 2021 </a:t>
            </a:r>
            <a:r>
              <a:rPr lang="tr-TR" sz="2400" i="0" dirty="0">
                <a:solidFill>
                  <a:schemeClr val="tx1">
                    <a:lumMod val="65000"/>
                  </a:schemeClr>
                </a:solidFill>
                <a:effectLst/>
                <a:latin typeface="Signika Negative"/>
              </a:rPr>
              <a:t>piyasaya çıkan Windows 11’dir. Windows Vista'dan sonra Microsoft, Windows 7 ile başarıyı yakalamış bu başarıyı Windows 8 ve Windows 10 ile devam ettirmiştir.</a:t>
            </a:r>
          </a:p>
          <a:p>
            <a:endParaRPr lang="tr-TR" sz="2400" dirty="0">
              <a:solidFill>
                <a:schemeClr val="tx1">
                  <a:lumMod val="65000"/>
                </a:schemeClr>
              </a:solidFill>
              <a:latin typeface="Signika Negative"/>
            </a:endParaRPr>
          </a:p>
          <a:p>
            <a:endParaRPr lang="tr-TR" sz="2400" i="0" dirty="0">
              <a:solidFill>
                <a:schemeClr val="tx1">
                  <a:lumMod val="65000"/>
                </a:schemeClr>
              </a:solidFill>
              <a:effectLst/>
              <a:latin typeface="Signika Negative"/>
            </a:endParaRPr>
          </a:p>
          <a:p>
            <a:r>
              <a:rPr lang="tr-TR" sz="2400" i="0" dirty="0">
                <a:solidFill>
                  <a:schemeClr val="tx1">
                    <a:lumMod val="65000"/>
                  </a:schemeClr>
                </a:solidFill>
                <a:effectLst/>
                <a:latin typeface="Signika Negative"/>
              </a:rPr>
              <a:t>Microsoft Windows kullanışlı ve ekonomik olması sebebiyle piyasanın %90’ına hakimdir.</a:t>
            </a:r>
          </a:p>
          <a:p>
            <a:endParaRPr lang="tr-TR" sz="2400" i="0" dirty="0">
              <a:solidFill>
                <a:schemeClr val="tx1">
                  <a:lumMod val="65000"/>
                </a:schemeClr>
              </a:solidFill>
              <a:effectLst/>
              <a:latin typeface="Signika Negative"/>
            </a:endParaRPr>
          </a:p>
          <a:p>
            <a:endParaRPr lang="tr-TR" sz="2400" dirty="0">
              <a:solidFill>
                <a:schemeClr val="tx1">
                  <a:lumMod val="65000"/>
                </a:schemeClr>
              </a:solidFill>
            </a:endParaRPr>
          </a:p>
        </p:txBody>
      </p:sp>
      <p:pic>
        <p:nvPicPr>
          <p:cNvPr id="5" name="Picture 4">
            <a:extLst>
              <a:ext uri="{FF2B5EF4-FFF2-40B4-BE49-F238E27FC236}">
                <a16:creationId xmlns:a16="http://schemas.microsoft.com/office/drawing/2014/main" id="{52C676A3-A4E7-415C-BBAA-6ABDB6385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4963" y="3429000"/>
            <a:ext cx="3175724" cy="584333"/>
          </a:xfrm>
          <a:prstGeom prst="rect">
            <a:avLst/>
          </a:prstGeom>
        </p:spPr>
      </p:pic>
    </p:spTree>
    <p:extLst>
      <p:ext uri="{BB962C8B-B14F-4D97-AF65-F5344CB8AC3E}">
        <p14:creationId xmlns:p14="http://schemas.microsoft.com/office/powerpoint/2010/main" val="3875698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D9C70-57FA-4A9C-BBC5-0FE8960F54AD}"/>
              </a:ext>
            </a:extLst>
          </p:cNvPr>
          <p:cNvSpPr>
            <a:spLocks noGrp="1"/>
          </p:cNvSpPr>
          <p:nvPr>
            <p:ph type="title"/>
          </p:nvPr>
        </p:nvSpPr>
        <p:spPr/>
        <p:txBody>
          <a:bodyPr/>
          <a:lstStyle/>
          <a:p>
            <a:r>
              <a:rPr lang="tr-TR" dirty="0"/>
              <a:t>Linux işletim sistemi </a:t>
            </a:r>
          </a:p>
        </p:txBody>
      </p:sp>
      <p:sp>
        <p:nvSpPr>
          <p:cNvPr id="3" name="Content Placeholder 2">
            <a:extLst>
              <a:ext uri="{FF2B5EF4-FFF2-40B4-BE49-F238E27FC236}">
                <a16:creationId xmlns:a16="http://schemas.microsoft.com/office/drawing/2014/main" id="{BC1F213F-44EA-409D-826D-91C2CD56BE9E}"/>
              </a:ext>
            </a:extLst>
          </p:cNvPr>
          <p:cNvSpPr>
            <a:spLocks noGrp="1"/>
          </p:cNvSpPr>
          <p:nvPr>
            <p:ph idx="1"/>
          </p:nvPr>
        </p:nvSpPr>
        <p:spPr/>
        <p:txBody>
          <a:bodyPr>
            <a:normAutofit/>
          </a:bodyPr>
          <a:lstStyle/>
          <a:p>
            <a:r>
              <a:rPr lang="tr-TR" sz="2400" b="0" i="0" dirty="0">
                <a:solidFill>
                  <a:schemeClr val="tx1">
                    <a:lumMod val="65000"/>
                  </a:schemeClr>
                </a:solidFill>
                <a:effectLst/>
              </a:rPr>
              <a:t>Linux, 1999 yılında Helsinki Üniversitesi öğrencisi </a:t>
            </a:r>
            <a:r>
              <a:rPr lang="tr-TR" sz="2400" b="1" i="0" dirty="0">
                <a:solidFill>
                  <a:schemeClr val="tx1">
                    <a:lumMod val="65000"/>
                  </a:schemeClr>
                </a:solidFill>
                <a:effectLst/>
              </a:rPr>
              <a:t>Linus Torvalds </a:t>
            </a:r>
            <a:r>
              <a:rPr lang="tr-TR" sz="2400" b="0" i="0" dirty="0">
                <a:solidFill>
                  <a:schemeClr val="tx1">
                    <a:lumMod val="65000"/>
                  </a:schemeClr>
                </a:solidFill>
                <a:effectLst/>
              </a:rPr>
              <a:t>tarafından kuruldu.</a:t>
            </a:r>
            <a:endParaRPr lang="tr-TR" sz="2400" dirty="0">
              <a:solidFill>
                <a:schemeClr val="tx1">
                  <a:lumMod val="65000"/>
                </a:schemeClr>
              </a:solidFill>
            </a:endParaRPr>
          </a:p>
          <a:p>
            <a:r>
              <a:rPr lang="tr-TR" sz="2400" dirty="0">
                <a:solidFill>
                  <a:schemeClr val="tx1">
                    <a:lumMod val="65000"/>
                  </a:schemeClr>
                </a:solidFill>
              </a:rPr>
              <a:t>Başlangıçta 1991 Yılında piyasaya sürüldü ve GNU geliştiricileri için tasarlandı. GNU geliştiricileri daha sonra Linux'a entegre ettiler. </a:t>
            </a:r>
          </a:p>
          <a:p>
            <a:r>
              <a:rPr lang="tr-TR" sz="2400" b="1" i="0" dirty="0">
                <a:solidFill>
                  <a:schemeClr val="tx1">
                    <a:lumMod val="65000"/>
                  </a:schemeClr>
                </a:solidFill>
                <a:effectLst/>
              </a:rPr>
              <a:t>Linux</a:t>
            </a:r>
            <a:r>
              <a:rPr lang="tr-TR" sz="2400" i="0" dirty="0">
                <a:solidFill>
                  <a:schemeClr val="tx1">
                    <a:lumMod val="65000"/>
                  </a:schemeClr>
                </a:solidFill>
                <a:effectLst/>
              </a:rPr>
              <a:t> açık kaynak kodlu bir yapıya sahiptir. Bu da işletim sistemini kullanan kişinin bilgisayarın arka planında dönen neredeyse her şeyden haberi olabileceği, işletim sistemini kendince düzenlenebileceği ve geliştirebileceği anlamına geliyor.</a:t>
            </a:r>
            <a:endParaRPr lang="tr-TR" sz="2400" dirty="0">
              <a:solidFill>
                <a:schemeClr val="tx1">
                  <a:lumMod val="65000"/>
                </a:schemeClr>
              </a:solidFill>
            </a:endParaRPr>
          </a:p>
          <a:p>
            <a:endParaRPr lang="tr-TR" sz="2400" dirty="0">
              <a:solidFill>
                <a:schemeClr val="tx1">
                  <a:lumMod val="65000"/>
                  <a:alpha val="70000"/>
                </a:schemeClr>
              </a:solidFill>
            </a:endParaRPr>
          </a:p>
        </p:txBody>
      </p:sp>
      <p:pic>
        <p:nvPicPr>
          <p:cNvPr id="7" name="Picture 6" descr="A close-up of a penguin&#10;&#10;Description automatically generated with medium confidence">
            <a:extLst>
              <a:ext uri="{FF2B5EF4-FFF2-40B4-BE49-F238E27FC236}">
                <a16:creationId xmlns:a16="http://schemas.microsoft.com/office/drawing/2014/main" id="{63761948-647B-47EC-ADA9-EDEA76C13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0188" y="4647030"/>
            <a:ext cx="1262312" cy="1502151"/>
          </a:xfrm>
          <a:prstGeom prst="rect">
            <a:avLst/>
          </a:prstGeom>
        </p:spPr>
      </p:pic>
    </p:spTree>
    <p:extLst>
      <p:ext uri="{BB962C8B-B14F-4D97-AF65-F5344CB8AC3E}">
        <p14:creationId xmlns:p14="http://schemas.microsoft.com/office/powerpoint/2010/main" val="3416958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24E28-1B8A-42A9-8FF9-DA05A11F2243}"/>
              </a:ext>
            </a:extLst>
          </p:cNvPr>
          <p:cNvSpPr>
            <a:spLocks noGrp="1"/>
          </p:cNvSpPr>
          <p:nvPr>
            <p:ph type="title"/>
          </p:nvPr>
        </p:nvSpPr>
        <p:spPr/>
        <p:txBody>
          <a:bodyPr/>
          <a:lstStyle/>
          <a:p>
            <a:r>
              <a:rPr lang="tr-TR" dirty="0"/>
              <a:t>Linux işletim sistemi </a:t>
            </a:r>
          </a:p>
        </p:txBody>
      </p:sp>
      <p:sp>
        <p:nvSpPr>
          <p:cNvPr id="3" name="Content Placeholder 2">
            <a:extLst>
              <a:ext uri="{FF2B5EF4-FFF2-40B4-BE49-F238E27FC236}">
                <a16:creationId xmlns:a16="http://schemas.microsoft.com/office/drawing/2014/main" id="{7EE94382-1BC3-4C46-945D-76152F40F412}"/>
              </a:ext>
            </a:extLst>
          </p:cNvPr>
          <p:cNvSpPr>
            <a:spLocks noGrp="1"/>
          </p:cNvSpPr>
          <p:nvPr>
            <p:ph idx="1"/>
          </p:nvPr>
        </p:nvSpPr>
        <p:spPr/>
        <p:txBody>
          <a:bodyPr>
            <a:normAutofit/>
          </a:bodyPr>
          <a:lstStyle/>
          <a:p>
            <a:r>
              <a:rPr lang="tr-TR" sz="2400" b="0" i="0" dirty="0">
                <a:solidFill>
                  <a:schemeClr val="tx1">
                    <a:lumMod val="65000"/>
                  </a:schemeClr>
                </a:solidFill>
                <a:effectLst/>
              </a:rPr>
              <a:t>Linux’ta karşılaşacağınız ilk şeylerden biri fazla gelen yazılım güncellemeleri olacaktır. Linux sürekli olarak güncelleniyor ve bu güncellemeler genelde </a:t>
            </a:r>
            <a:r>
              <a:rPr lang="tr-TR" sz="2400" i="0" dirty="0">
                <a:solidFill>
                  <a:schemeClr val="tx1">
                    <a:lumMod val="65000"/>
                  </a:schemeClr>
                </a:solidFill>
                <a:effectLst/>
              </a:rPr>
              <a:t>çok hızlı </a:t>
            </a:r>
            <a:r>
              <a:rPr lang="tr-TR" sz="2400" b="0" i="0" dirty="0">
                <a:solidFill>
                  <a:schemeClr val="tx1">
                    <a:lumMod val="65000"/>
                  </a:schemeClr>
                </a:solidFill>
                <a:effectLst/>
              </a:rPr>
              <a:t>bir şekilde yükleniyor.</a:t>
            </a:r>
          </a:p>
          <a:p>
            <a:r>
              <a:rPr lang="tr-TR" sz="2400" b="0" i="0" dirty="0">
                <a:solidFill>
                  <a:schemeClr val="tx1">
                    <a:lumMod val="65000"/>
                  </a:schemeClr>
                </a:solidFill>
                <a:effectLst/>
                <a:latin typeface="Avenir Next LT Pro" panose="020B0504020202020204" pitchFamily="34" charset="-94"/>
              </a:rPr>
              <a:t>Linux’ta virüs içeren bir uygulamanın kesinlikle yöneticiden bir şifre ile onay alması gerekiyor. Şifre girilmediği sürece uygulamalar işletim sisteminde herhangi bir değişiklik yapamıyor. Dolayısıyla Linux, herhangi bir antivirüs programına ihtiyaç kalmadan bilgisayarı koruyor.</a:t>
            </a:r>
            <a:endParaRPr lang="tr-TR" sz="2400" dirty="0">
              <a:solidFill>
                <a:schemeClr val="tx1">
                  <a:lumMod val="65000"/>
                </a:schemeClr>
              </a:solidFill>
              <a:latin typeface="Avenir Next LT Pro" panose="020B0504020202020204" pitchFamily="34" charset="-94"/>
            </a:endParaRPr>
          </a:p>
        </p:txBody>
      </p:sp>
    </p:spTree>
    <p:extLst>
      <p:ext uri="{BB962C8B-B14F-4D97-AF65-F5344CB8AC3E}">
        <p14:creationId xmlns:p14="http://schemas.microsoft.com/office/powerpoint/2010/main" val="356543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4C29-CF31-455E-9F2C-67553F892B1C}"/>
              </a:ext>
            </a:extLst>
          </p:cNvPr>
          <p:cNvSpPr>
            <a:spLocks noGrp="1"/>
          </p:cNvSpPr>
          <p:nvPr>
            <p:ph type="title"/>
          </p:nvPr>
        </p:nvSpPr>
        <p:spPr/>
        <p:txBody>
          <a:bodyPr/>
          <a:lstStyle/>
          <a:p>
            <a:r>
              <a:rPr lang="tr-TR" dirty="0"/>
              <a:t>Macos işletim sistemi</a:t>
            </a:r>
          </a:p>
        </p:txBody>
      </p:sp>
      <p:sp>
        <p:nvSpPr>
          <p:cNvPr id="3" name="Content Placeholder 2">
            <a:extLst>
              <a:ext uri="{FF2B5EF4-FFF2-40B4-BE49-F238E27FC236}">
                <a16:creationId xmlns:a16="http://schemas.microsoft.com/office/drawing/2014/main" id="{F65B0D2D-0E80-407E-AFBA-4C6232014D1B}"/>
              </a:ext>
            </a:extLst>
          </p:cNvPr>
          <p:cNvSpPr>
            <a:spLocks noGrp="1"/>
          </p:cNvSpPr>
          <p:nvPr>
            <p:ph idx="1"/>
          </p:nvPr>
        </p:nvSpPr>
        <p:spPr/>
        <p:txBody>
          <a:bodyPr>
            <a:normAutofit/>
          </a:bodyPr>
          <a:lstStyle/>
          <a:p>
            <a:r>
              <a:rPr lang="tr-TR" sz="2400" b="1" i="0" dirty="0">
                <a:solidFill>
                  <a:schemeClr val="tx1">
                    <a:lumMod val="65000"/>
                  </a:schemeClr>
                </a:solidFill>
                <a:effectLst/>
                <a:latin typeface="Avenir Next LT Pro" panose="020B0504020202020204" pitchFamily="34" charset="-94"/>
              </a:rPr>
              <a:t>macOS</a:t>
            </a:r>
            <a:r>
              <a:rPr lang="tr-TR" sz="2400" b="0" i="0" dirty="0">
                <a:solidFill>
                  <a:schemeClr val="tx1">
                    <a:lumMod val="65000"/>
                  </a:schemeClr>
                </a:solidFill>
                <a:effectLst/>
                <a:latin typeface="Avenir Next LT Pro" panose="020B0504020202020204" pitchFamily="34" charset="-94"/>
              </a:rPr>
              <a:t>, (eski adları 'Mac OS X' ve 'OS X' </a:t>
            </a:r>
            <a:r>
              <a:rPr lang="tr-TR" sz="2400" dirty="0">
                <a:solidFill>
                  <a:schemeClr val="tx1">
                    <a:lumMod val="65000"/>
                  </a:schemeClr>
                </a:solidFill>
                <a:latin typeface="Avenir Next LT Pro" panose="020B0504020202020204" pitchFamily="34" charset="-94"/>
              </a:rPr>
              <a:t>Macintosh işletişim sistemi </a:t>
            </a:r>
            <a:r>
              <a:rPr lang="tr-TR" sz="2400" b="0" i="0" dirty="0">
                <a:solidFill>
                  <a:schemeClr val="tx1">
                    <a:lumMod val="65000"/>
                  </a:schemeClr>
                </a:solidFill>
                <a:effectLst/>
                <a:latin typeface="Avenir Next LT Pro" panose="020B0504020202020204" pitchFamily="34" charset="-94"/>
              </a:rPr>
              <a:t>ailesinin son sürümüdür ve </a:t>
            </a:r>
            <a:r>
              <a:rPr lang="tr-TR" sz="2400" dirty="0">
                <a:solidFill>
                  <a:schemeClr val="tx1">
                    <a:lumMod val="65000"/>
                  </a:schemeClr>
                </a:solidFill>
                <a:latin typeface="Avenir Next LT Pro" panose="020B0504020202020204" pitchFamily="34" charset="-94"/>
              </a:rPr>
              <a:t>Apple Inc. tarafından Macintosh </a:t>
            </a:r>
            <a:r>
              <a:rPr lang="tr-TR" sz="2400" b="0" i="0" dirty="0">
                <a:solidFill>
                  <a:schemeClr val="tx1">
                    <a:lumMod val="65000"/>
                  </a:schemeClr>
                </a:solidFill>
                <a:effectLst/>
                <a:latin typeface="Avenir Next LT Pro" panose="020B0504020202020204" pitchFamily="34" charset="-94"/>
              </a:rPr>
              <a:t>bilgisayarları için tasarlanmış bir işletim sistemidir.</a:t>
            </a:r>
          </a:p>
          <a:p>
            <a:endParaRPr lang="tr-TR" sz="2400" dirty="0">
              <a:solidFill>
                <a:schemeClr val="tx1">
                  <a:lumMod val="65000"/>
                </a:schemeClr>
              </a:solidFill>
              <a:latin typeface="Avenir Next LT Pro" panose="020B0504020202020204" pitchFamily="34" charset="-94"/>
            </a:endParaRPr>
          </a:p>
          <a:p>
            <a:endParaRPr lang="tr-TR" sz="2400" b="0" i="0" dirty="0">
              <a:solidFill>
                <a:schemeClr val="tx1">
                  <a:lumMod val="65000"/>
                </a:schemeClr>
              </a:solidFill>
              <a:effectLst/>
              <a:latin typeface="Avenir Next LT Pro" panose="020B0504020202020204" pitchFamily="34" charset="-94"/>
            </a:endParaRPr>
          </a:p>
          <a:p>
            <a:r>
              <a:rPr lang="tr-TR" sz="2400" b="0" i="0" dirty="0">
                <a:solidFill>
                  <a:schemeClr val="tx1">
                    <a:lumMod val="65000"/>
                  </a:schemeClr>
                </a:solidFill>
                <a:effectLst/>
              </a:rPr>
              <a:t>Bu işletim sistemi Mach mikroçekirdeği ve BSD üzerine kuruludur ve açık kaynak bir işletim sistemi olan Darwin’e dayanmaktadır.</a:t>
            </a:r>
            <a:endParaRPr lang="tr-TR" sz="2400" dirty="0">
              <a:solidFill>
                <a:schemeClr val="tx1">
                  <a:lumMod val="65000"/>
                </a:schemeClr>
              </a:solidFill>
            </a:endParaRPr>
          </a:p>
        </p:txBody>
      </p:sp>
      <p:pic>
        <p:nvPicPr>
          <p:cNvPr id="7" name="Picture 6" descr="Shape&#10;&#10;Description automatically generated with medium confidence">
            <a:extLst>
              <a:ext uri="{FF2B5EF4-FFF2-40B4-BE49-F238E27FC236}">
                <a16:creationId xmlns:a16="http://schemas.microsoft.com/office/drawing/2014/main" id="{6F6D69B8-5B0E-4847-8689-4D9A3D1117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2951" y="2755649"/>
            <a:ext cx="1428750" cy="1695450"/>
          </a:xfrm>
          <a:prstGeom prst="rect">
            <a:avLst/>
          </a:prstGeom>
        </p:spPr>
      </p:pic>
    </p:spTree>
    <p:extLst>
      <p:ext uri="{BB962C8B-B14F-4D97-AF65-F5344CB8AC3E}">
        <p14:creationId xmlns:p14="http://schemas.microsoft.com/office/powerpoint/2010/main" val="233149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B39FE-A42C-4127-ADD8-B3379807B20F}"/>
              </a:ext>
            </a:extLst>
          </p:cNvPr>
          <p:cNvSpPr>
            <a:spLocks noGrp="1"/>
          </p:cNvSpPr>
          <p:nvPr>
            <p:ph type="title"/>
          </p:nvPr>
        </p:nvSpPr>
        <p:spPr/>
        <p:txBody>
          <a:bodyPr/>
          <a:lstStyle/>
          <a:p>
            <a:r>
              <a:rPr lang="tr-TR" dirty="0"/>
              <a:t>Macos işletim sistemi</a:t>
            </a:r>
          </a:p>
        </p:txBody>
      </p:sp>
      <p:sp>
        <p:nvSpPr>
          <p:cNvPr id="3" name="Content Placeholder 2">
            <a:extLst>
              <a:ext uri="{FF2B5EF4-FFF2-40B4-BE49-F238E27FC236}">
                <a16:creationId xmlns:a16="http://schemas.microsoft.com/office/drawing/2014/main" id="{F545E286-DF4A-44EA-AE63-816303BF838F}"/>
              </a:ext>
            </a:extLst>
          </p:cNvPr>
          <p:cNvSpPr>
            <a:spLocks noGrp="1"/>
          </p:cNvSpPr>
          <p:nvPr>
            <p:ph idx="1"/>
          </p:nvPr>
        </p:nvSpPr>
        <p:spPr/>
        <p:txBody>
          <a:bodyPr>
            <a:normAutofit/>
          </a:bodyPr>
          <a:lstStyle/>
          <a:p>
            <a:r>
              <a:rPr lang="tr-TR" sz="2400" dirty="0">
                <a:solidFill>
                  <a:schemeClr val="tx1">
                    <a:lumMod val="65000"/>
                  </a:schemeClr>
                </a:solidFill>
              </a:rPr>
              <a:t>macOS Server </a:t>
            </a:r>
            <a:r>
              <a:rPr lang="tr-TR" sz="2400" b="0" i="0" dirty="0">
                <a:solidFill>
                  <a:schemeClr val="tx1">
                    <a:lumMod val="65000"/>
                  </a:schemeClr>
                </a:solidFill>
                <a:effectLst/>
              </a:rPr>
              <a:t>ise her ne kadar mimari olarak masaüstü Mac OS X ile aynı olsa da, Apple sunucuları için hazırlanmış ayrı bir işletim sistemidir. Mac OS X'ten farklı olarak gelişmiş yönetim araçları içerir.</a:t>
            </a:r>
          </a:p>
          <a:p>
            <a:r>
              <a:rPr lang="tr-TR" sz="2400" b="0" i="0" dirty="0">
                <a:solidFill>
                  <a:schemeClr val="tx1">
                    <a:lumMod val="65000"/>
                  </a:schemeClr>
                </a:solidFill>
                <a:effectLst/>
              </a:rPr>
              <a:t>Mac OS X işletim sisteminde kullanıcı arayüzü olarak Aqua’yı geliştirildi. Sistemin çekirdeği ve bazı bileşenleri açık kaynak kodlu olmasına rağmen, çoğu bileşeni açık kaynak kodlu değil.</a:t>
            </a:r>
            <a:endParaRPr lang="tr-TR" sz="2400" dirty="0">
              <a:solidFill>
                <a:schemeClr val="tx1">
                  <a:lumMod val="65000"/>
                </a:schemeClr>
              </a:solidFill>
            </a:endParaRPr>
          </a:p>
        </p:txBody>
      </p:sp>
      <p:pic>
        <p:nvPicPr>
          <p:cNvPr id="7" name="Picture 6">
            <a:extLst>
              <a:ext uri="{FF2B5EF4-FFF2-40B4-BE49-F238E27FC236}">
                <a16:creationId xmlns:a16="http://schemas.microsoft.com/office/drawing/2014/main" id="{A16A8A0A-817A-48DE-98FA-45A485A09D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081" y="5070725"/>
            <a:ext cx="3233488" cy="776037"/>
          </a:xfrm>
          <a:prstGeom prst="rect">
            <a:avLst/>
          </a:prstGeom>
        </p:spPr>
      </p:pic>
    </p:spTree>
    <p:extLst>
      <p:ext uri="{BB962C8B-B14F-4D97-AF65-F5344CB8AC3E}">
        <p14:creationId xmlns:p14="http://schemas.microsoft.com/office/powerpoint/2010/main" val="3539228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A3083-BAEB-4402-A47E-0743FB55E1B6}"/>
              </a:ext>
            </a:extLst>
          </p:cNvPr>
          <p:cNvSpPr>
            <a:spLocks noGrp="1"/>
          </p:cNvSpPr>
          <p:nvPr>
            <p:ph type="title"/>
          </p:nvPr>
        </p:nvSpPr>
        <p:spPr>
          <a:xfrm>
            <a:off x="1079500" y="321428"/>
            <a:ext cx="10026650" cy="655637"/>
          </a:xfrm>
        </p:spPr>
        <p:txBody>
          <a:bodyPr>
            <a:normAutofit fontScale="90000"/>
          </a:bodyPr>
          <a:lstStyle/>
          <a:p>
            <a:r>
              <a:rPr lang="tr-TR" dirty="0"/>
              <a:t>Macos sürüm bilgileri</a:t>
            </a:r>
            <a:br>
              <a:rPr lang="tr-TR" b="0" i="0" dirty="0">
                <a:solidFill>
                  <a:srgbClr val="000000"/>
                </a:solidFill>
                <a:effectLst/>
                <a:latin typeface="Linux Libertine"/>
              </a:rPr>
            </a:br>
            <a:endParaRPr lang="tr-TR" dirty="0"/>
          </a:p>
        </p:txBody>
      </p:sp>
      <p:pic>
        <p:nvPicPr>
          <p:cNvPr id="9" name="Content Placeholder 8" descr="Timeline&#10;&#10;Description automatically generated">
            <a:extLst>
              <a:ext uri="{FF2B5EF4-FFF2-40B4-BE49-F238E27FC236}">
                <a16:creationId xmlns:a16="http://schemas.microsoft.com/office/drawing/2014/main" id="{9004DA58-BF00-4992-AB54-7F1A983E4E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23" y="1187594"/>
            <a:ext cx="12115754" cy="5670406"/>
          </a:xfrm>
        </p:spPr>
      </p:pic>
    </p:spTree>
    <p:extLst>
      <p:ext uri="{BB962C8B-B14F-4D97-AF65-F5344CB8AC3E}">
        <p14:creationId xmlns:p14="http://schemas.microsoft.com/office/powerpoint/2010/main" val="5020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FEF84-D040-457D-9510-49BB49541065}"/>
              </a:ext>
            </a:extLst>
          </p:cNvPr>
          <p:cNvSpPr>
            <a:spLocks noGrp="1"/>
          </p:cNvSpPr>
          <p:nvPr>
            <p:ph type="title"/>
          </p:nvPr>
        </p:nvSpPr>
        <p:spPr/>
        <p:txBody>
          <a:bodyPr>
            <a:normAutofit fontScale="90000"/>
          </a:bodyPr>
          <a:lstStyle/>
          <a:p>
            <a:r>
              <a:rPr lang="tr-TR" sz="3100" b="1" i="0" dirty="0">
                <a:effectLst/>
              </a:rPr>
              <a:t>Linux, MAC ve Windows Arasındaki Temel Farklar</a:t>
            </a:r>
            <a:br>
              <a:rPr lang="tr-TR" b="1" i="0" dirty="0">
                <a:solidFill>
                  <a:srgbClr val="232C39"/>
                </a:solidFill>
                <a:effectLst/>
                <a:latin typeface="Nunito Sans" panose="020B0604020202020204" pitchFamily="2" charset="-94"/>
              </a:rPr>
            </a:br>
            <a:endParaRPr lang="tr-TR" dirty="0"/>
          </a:p>
        </p:txBody>
      </p:sp>
      <p:sp>
        <p:nvSpPr>
          <p:cNvPr id="3" name="Content Placeholder 2">
            <a:extLst>
              <a:ext uri="{FF2B5EF4-FFF2-40B4-BE49-F238E27FC236}">
                <a16:creationId xmlns:a16="http://schemas.microsoft.com/office/drawing/2014/main" id="{E78D6B7A-3868-48F3-BF60-592A47210DFA}"/>
              </a:ext>
            </a:extLst>
          </p:cNvPr>
          <p:cNvSpPr>
            <a:spLocks noGrp="1"/>
          </p:cNvSpPr>
          <p:nvPr>
            <p:ph idx="1"/>
          </p:nvPr>
        </p:nvSpPr>
        <p:spPr>
          <a:xfrm>
            <a:off x="903036" y="2574340"/>
            <a:ext cx="10026650" cy="3978275"/>
          </a:xfrm>
        </p:spPr>
        <p:txBody>
          <a:bodyPr>
            <a:normAutofit/>
          </a:bodyPr>
          <a:lstStyle/>
          <a:p>
            <a:r>
              <a:rPr lang="tr-TR" sz="2400" dirty="0">
                <a:solidFill>
                  <a:schemeClr val="tx1">
                    <a:lumMod val="65000"/>
                    <a:alpha val="70000"/>
                  </a:schemeClr>
                </a:solidFill>
              </a:rPr>
              <a:t>Bunlar en çok kullanılan işletim sistemleridir. Her üçü de yaygın olarak kullanılsa da, Linux ile MAC ve Windows arasında önemli farklılıklar vardır. Kullanıcıların %90'ı Windows'u tercih ettiğinden, Windows diğer ikisine göre baskındır. Linux en az kullanılan işletim sistemidir ve kullanıcı oranı %1'dir. MAC popülerdir ve dünya genelinde %7'lik bir genel kullanıcı tabanına sahiptir.</a:t>
            </a:r>
          </a:p>
        </p:txBody>
      </p:sp>
    </p:spTree>
    <p:extLst>
      <p:ext uri="{BB962C8B-B14F-4D97-AF65-F5344CB8AC3E}">
        <p14:creationId xmlns:p14="http://schemas.microsoft.com/office/powerpoint/2010/main" val="1713142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13C5C-118F-4350-A2BC-09679F7FC96C}"/>
              </a:ext>
            </a:extLst>
          </p:cNvPr>
          <p:cNvSpPr>
            <a:spLocks noGrp="1"/>
          </p:cNvSpPr>
          <p:nvPr>
            <p:ph type="title"/>
          </p:nvPr>
        </p:nvSpPr>
        <p:spPr/>
        <p:txBody>
          <a:bodyPr>
            <a:normAutofit fontScale="90000"/>
          </a:bodyPr>
          <a:lstStyle/>
          <a:p>
            <a:r>
              <a:rPr lang="tr-TR" sz="2800" b="1" i="0" dirty="0">
                <a:effectLst/>
              </a:rPr>
              <a:t>Linux, MAC ve Windows Arasındaki Temel Farklar</a:t>
            </a:r>
            <a:endParaRPr lang="tr-TR" dirty="0"/>
          </a:p>
        </p:txBody>
      </p:sp>
      <p:sp>
        <p:nvSpPr>
          <p:cNvPr id="3" name="Content Placeholder 2">
            <a:extLst>
              <a:ext uri="{FF2B5EF4-FFF2-40B4-BE49-F238E27FC236}">
                <a16:creationId xmlns:a16="http://schemas.microsoft.com/office/drawing/2014/main" id="{36EDF469-1C2A-4695-BB8E-FF7762C8285A}"/>
              </a:ext>
            </a:extLst>
          </p:cNvPr>
          <p:cNvSpPr>
            <a:spLocks noGrp="1"/>
          </p:cNvSpPr>
          <p:nvPr>
            <p:ph idx="1"/>
          </p:nvPr>
        </p:nvSpPr>
        <p:spPr/>
        <p:txBody>
          <a:bodyPr>
            <a:noAutofit/>
          </a:bodyPr>
          <a:lstStyle/>
          <a:p>
            <a:r>
              <a:rPr lang="tr-TR" sz="2400" dirty="0">
                <a:solidFill>
                  <a:schemeClr val="tx1">
                    <a:lumMod val="65000"/>
                    <a:alpha val="70000"/>
                  </a:schemeClr>
                </a:solidFill>
              </a:rPr>
              <a:t>Kötü amaçlı yazılım riski söz konusu olduğunda, Windows en yatkındır. Bu, daha büyük bir kullanıcı tabanından kaynaklanmaktadır. Linux'un kötü amaçlı yazılımlardan etkilenmesi pek olası değildir. Kötü amaçlı Yazılım söz konusu olduğunda MAC benzerdir.</a:t>
            </a:r>
          </a:p>
          <a:p>
            <a:r>
              <a:rPr lang="tr-TR" sz="2400" dirty="0">
                <a:solidFill>
                  <a:schemeClr val="tx1">
                    <a:lumMod val="65000"/>
                    <a:alpha val="70000"/>
                  </a:schemeClr>
                </a:solidFill>
              </a:rPr>
              <a:t>Windows pahalıdır ve maliyeti 100 $ ' dan başlar. Linux ücretsizdir ve herkes indirebilir ve kullanabilir. MAC, Windows'dan daha pahalıdır ve kullanıcı Apple tarafından oluşturulmuş bir MAC sistemi satın almak zorunda kalır.</a:t>
            </a:r>
          </a:p>
        </p:txBody>
      </p:sp>
    </p:spTree>
    <p:extLst>
      <p:ext uri="{BB962C8B-B14F-4D97-AF65-F5344CB8AC3E}">
        <p14:creationId xmlns:p14="http://schemas.microsoft.com/office/powerpoint/2010/main" val="503291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51AD-9B34-4905-A762-D1D37C230900}"/>
              </a:ext>
            </a:extLst>
          </p:cNvPr>
          <p:cNvSpPr>
            <a:spLocks noGrp="1"/>
          </p:cNvSpPr>
          <p:nvPr>
            <p:ph type="title"/>
          </p:nvPr>
        </p:nvSpPr>
        <p:spPr>
          <a:xfrm>
            <a:off x="3838743" y="674354"/>
            <a:ext cx="10026650" cy="655637"/>
          </a:xfrm>
        </p:spPr>
        <p:txBody>
          <a:bodyPr/>
          <a:lstStyle/>
          <a:p>
            <a:r>
              <a:rPr lang="tr-TR" dirty="0"/>
              <a:t>Dosya yapısı farkı</a:t>
            </a:r>
          </a:p>
        </p:txBody>
      </p:sp>
      <p:graphicFrame>
        <p:nvGraphicFramePr>
          <p:cNvPr id="4" name="Table 4">
            <a:extLst>
              <a:ext uri="{FF2B5EF4-FFF2-40B4-BE49-F238E27FC236}">
                <a16:creationId xmlns:a16="http://schemas.microsoft.com/office/drawing/2014/main" id="{B137A4B3-F7C9-468E-915D-9458F926122F}"/>
              </a:ext>
            </a:extLst>
          </p:cNvPr>
          <p:cNvGraphicFramePr>
            <a:graphicFrameLocks noGrp="1"/>
          </p:cNvGraphicFramePr>
          <p:nvPr>
            <p:ph idx="1"/>
            <p:extLst>
              <p:ext uri="{D42A27DB-BD31-4B8C-83A1-F6EECF244321}">
                <p14:modId xmlns:p14="http://schemas.microsoft.com/office/powerpoint/2010/main" val="3735615831"/>
              </p:ext>
            </p:extLst>
          </p:nvPr>
        </p:nvGraphicFramePr>
        <p:xfrm>
          <a:off x="393032" y="1329990"/>
          <a:ext cx="11405936" cy="5327483"/>
        </p:xfrm>
        <a:graphic>
          <a:graphicData uri="http://schemas.openxmlformats.org/drawingml/2006/table">
            <a:tbl>
              <a:tblPr firstRow="1" bandRow="1">
                <a:tableStyleId>{5C22544A-7EE6-4342-B048-85BDC9FD1C3A}</a:tableStyleId>
              </a:tblPr>
              <a:tblGrid>
                <a:gridCol w="3801979">
                  <a:extLst>
                    <a:ext uri="{9D8B030D-6E8A-4147-A177-3AD203B41FA5}">
                      <a16:colId xmlns:a16="http://schemas.microsoft.com/office/drawing/2014/main" val="3511517884"/>
                    </a:ext>
                  </a:extLst>
                </a:gridCol>
                <a:gridCol w="3784238">
                  <a:extLst>
                    <a:ext uri="{9D8B030D-6E8A-4147-A177-3AD203B41FA5}">
                      <a16:colId xmlns:a16="http://schemas.microsoft.com/office/drawing/2014/main" val="1871477178"/>
                    </a:ext>
                  </a:extLst>
                </a:gridCol>
                <a:gridCol w="3819719">
                  <a:extLst>
                    <a:ext uri="{9D8B030D-6E8A-4147-A177-3AD203B41FA5}">
                      <a16:colId xmlns:a16="http://schemas.microsoft.com/office/drawing/2014/main" val="4002504668"/>
                    </a:ext>
                  </a:extLst>
                </a:gridCol>
              </a:tblGrid>
              <a:tr h="558896">
                <a:tc>
                  <a:txBody>
                    <a:bodyPr/>
                    <a:lstStyle/>
                    <a:p>
                      <a:r>
                        <a:rPr lang="tr-TR" sz="2800" dirty="0"/>
                        <a:t>        Windows</a:t>
                      </a:r>
                    </a:p>
                  </a:txBody>
                  <a:tcPr/>
                </a:tc>
                <a:tc>
                  <a:txBody>
                    <a:bodyPr/>
                    <a:lstStyle/>
                    <a:p>
                      <a:r>
                        <a:rPr lang="tr-TR" sz="2800" dirty="0"/>
                        <a:t>          macOS</a:t>
                      </a:r>
                    </a:p>
                  </a:txBody>
                  <a:tcPr/>
                </a:tc>
                <a:tc>
                  <a:txBody>
                    <a:bodyPr/>
                    <a:lstStyle/>
                    <a:p>
                      <a:r>
                        <a:rPr lang="tr-TR" sz="2800" dirty="0"/>
                        <a:t>             Linux</a:t>
                      </a:r>
                    </a:p>
                  </a:txBody>
                  <a:tcPr/>
                </a:tc>
                <a:extLst>
                  <a:ext uri="{0D108BD9-81ED-4DB2-BD59-A6C34878D82A}">
                    <a16:rowId xmlns:a16="http://schemas.microsoft.com/office/drawing/2014/main" val="2732332674"/>
                  </a:ext>
                </a:extLst>
              </a:tr>
              <a:tr h="4768587">
                <a:tc>
                  <a:txBody>
                    <a:bodyPr/>
                    <a:lstStyle/>
                    <a:p>
                      <a:r>
                        <a:rPr lang="tr-TR" sz="1900" dirty="0"/>
                        <a:t>Windows, kullanıcının farklı dosya türlerini depolamak için bir dizin yapısını izler. Mantıksal sürücüler ve dolap çekmeceleri vardır. Ayrıca klasörleri de var. Belgeler, resimler, müzik, videolar ve indirilenler gibi bazı yaygın klasörler. Tüm bu dosyalar bu klasörlerde saklanabilir ve ayrıca yeni klasörler oluşturulabilir. Ayrıca bir elektronik tablo veya uygulama programı olabilecek dosyalara da sahiptir. Gibi uzantılara sahip olabilir .txt, .jpg vb.</a:t>
                      </a:r>
                      <a:endParaRPr lang="tr-TR" sz="1900" b="0" i="0" kern="1200" dirty="0">
                        <a:solidFill>
                          <a:schemeClr val="dk1"/>
                        </a:solidFill>
                        <a:effectLst/>
                        <a:latin typeface="+mn-lt"/>
                        <a:ea typeface="+mn-ea"/>
                        <a:cs typeface="+mn-cs"/>
                      </a:endParaRPr>
                    </a:p>
                    <a:p>
                      <a:endParaRPr lang="tr-TR" dirty="0"/>
                    </a:p>
                  </a:txBody>
                  <a:tcPr/>
                </a:tc>
                <a:tc>
                  <a:txBody>
                    <a:bodyPr/>
                    <a:lstStyle/>
                    <a:p>
                      <a:r>
                        <a:rPr lang="tr-TR" sz="2000" dirty="0"/>
                        <a:t>Mac'in dosya yapısı genellikle MAC OS X olarak bilinir. Mac'inizin sabit diskini finder aracılığıyla kazmaya giderseniz, birçok dizin görürsünüz. Mac'in kök dizini, kendi MAC kitaplarını ziyaret ettiklerinde karşılaşabilir. Dosya sistemini ve dizin yapısını /Application, /Developer, /sbin, /tmp vb. Dizinlere giderek keşfedebilirsiniz.</a:t>
                      </a:r>
                    </a:p>
                  </a:txBody>
                  <a:tcPr/>
                </a:tc>
                <a:tc>
                  <a:txBody>
                    <a:bodyPr/>
                    <a:lstStyle/>
                    <a:p>
                      <a:r>
                        <a:rPr lang="tr-TR" sz="2400" dirty="0"/>
                        <a:t>Linux, Windows ve Mac'ten tamamen farklı bir dosya yapısına sahiptir. Farklı bir kod tabanı ile geliştirilmiştir. Verileri bir ağaç şeklinde saklar. Tek bir dosya ağacı vardır ve tüm sürücüleriniz bu ağacın üzerine monte edilmiştir.</a:t>
                      </a:r>
                    </a:p>
                  </a:txBody>
                  <a:tcPr/>
                </a:tc>
                <a:extLst>
                  <a:ext uri="{0D108BD9-81ED-4DB2-BD59-A6C34878D82A}">
                    <a16:rowId xmlns:a16="http://schemas.microsoft.com/office/drawing/2014/main" val="3510317622"/>
                  </a:ext>
                </a:extLst>
              </a:tr>
            </a:tbl>
          </a:graphicData>
        </a:graphic>
      </p:graphicFrame>
    </p:spTree>
    <p:extLst>
      <p:ext uri="{BB962C8B-B14F-4D97-AF65-F5344CB8AC3E}">
        <p14:creationId xmlns:p14="http://schemas.microsoft.com/office/powerpoint/2010/main" val="3281776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6284-95F9-42FE-B1D7-A07C8F5AC699}"/>
              </a:ext>
            </a:extLst>
          </p:cNvPr>
          <p:cNvSpPr>
            <a:spLocks noGrp="1"/>
          </p:cNvSpPr>
          <p:nvPr>
            <p:ph type="title"/>
          </p:nvPr>
        </p:nvSpPr>
        <p:spPr>
          <a:xfrm>
            <a:off x="4560636" y="610185"/>
            <a:ext cx="10026650" cy="655637"/>
          </a:xfrm>
        </p:spPr>
        <p:txBody>
          <a:bodyPr/>
          <a:lstStyle/>
          <a:p>
            <a:r>
              <a:rPr lang="tr-TR" dirty="0"/>
              <a:t>KAYIT FARKI</a:t>
            </a:r>
          </a:p>
        </p:txBody>
      </p:sp>
      <p:graphicFrame>
        <p:nvGraphicFramePr>
          <p:cNvPr id="4" name="Table 4">
            <a:extLst>
              <a:ext uri="{FF2B5EF4-FFF2-40B4-BE49-F238E27FC236}">
                <a16:creationId xmlns:a16="http://schemas.microsoft.com/office/drawing/2014/main" id="{E187D154-88DC-4E6D-BBDE-9A4C3905CCBD}"/>
              </a:ext>
            </a:extLst>
          </p:cNvPr>
          <p:cNvGraphicFramePr>
            <a:graphicFrameLocks noGrp="1"/>
          </p:cNvGraphicFramePr>
          <p:nvPr>
            <p:ph idx="1"/>
            <p:extLst>
              <p:ext uri="{D42A27DB-BD31-4B8C-83A1-F6EECF244321}">
                <p14:modId xmlns:p14="http://schemas.microsoft.com/office/powerpoint/2010/main" val="230563680"/>
              </p:ext>
            </p:extLst>
          </p:nvPr>
        </p:nvGraphicFramePr>
        <p:xfrm>
          <a:off x="465221" y="1790699"/>
          <a:ext cx="11229474" cy="4738437"/>
        </p:xfrm>
        <a:graphic>
          <a:graphicData uri="http://schemas.openxmlformats.org/drawingml/2006/table">
            <a:tbl>
              <a:tblPr firstRow="1" bandRow="1">
                <a:tableStyleId>{5C22544A-7EE6-4342-B048-85BDC9FD1C3A}</a:tableStyleId>
              </a:tblPr>
              <a:tblGrid>
                <a:gridCol w="3743158">
                  <a:extLst>
                    <a:ext uri="{9D8B030D-6E8A-4147-A177-3AD203B41FA5}">
                      <a16:colId xmlns:a16="http://schemas.microsoft.com/office/drawing/2014/main" val="855742662"/>
                    </a:ext>
                  </a:extLst>
                </a:gridCol>
                <a:gridCol w="3743158">
                  <a:extLst>
                    <a:ext uri="{9D8B030D-6E8A-4147-A177-3AD203B41FA5}">
                      <a16:colId xmlns:a16="http://schemas.microsoft.com/office/drawing/2014/main" val="2733935335"/>
                    </a:ext>
                  </a:extLst>
                </a:gridCol>
                <a:gridCol w="3743158">
                  <a:extLst>
                    <a:ext uri="{9D8B030D-6E8A-4147-A177-3AD203B41FA5}">
                      <a16:colId xmlns:a16="http://schemas.microsoft.com/office/drawing/2014/main" val="278083865"/>
                    </a:ext>
                  </a:extLst>
                </a:gridCol>
              </a:tblGrid>
              <a:tr h="620943">
                <a:tc>
                  <a:txBody>
                    <a:bodyPr/>
                    <a:lstStyle/>
                    <a:p>
                      <a:r>
                        <a:rPr lang="tr-TR" sz="3200" dirty="0"/>
                        <a:t>        Windows</a:t>
                      </a:r>
                    </a:p>
                  </a:txBody>
                  <a:tcPr/>
                </a:tc>
                <a:tc>
                  <a:txBody>
                    <a:bodyPr/>
                    <a:lstStyle/>
                    <a:p>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4064246115"/>
                  </a:ext>
                </a:extLst>
              </a:tr>
              <a:tr h="4117494">
                <a:tc>
                  <a:txBody>
                    <a:bodyPr/>
                    <a:lstStyle/>
                    <a:p>
                      <a:r>
                        <a:rPr lang="tr-TR" sz="2000" dirty="0"/>
                        <a:t>Windows kayıt defteri, bilgisayarınızdaki tüm ayarları depolamak için kullanılan bir ana veritabanıdır. Tüm kullanıcı bilgilerini şifreleriyle ve cihazla ilgili bilgilerle birlikte depolamaktan sorumludur. Kayıt defterinde ayrıca gerekirse tüm anahtarları ve değerleri ve hatta sürücüleri görüntülemenizi sağlayan bir düzenleyici vardır.</a:t>
                      </a:r>
                    </a:p>
                  </a:txBody>
                  <a:tcPr/>
                </a:tc>
                <a:tc>
                  <a:txBody>
                    <a:bodyPr/>
                    <a:lstStyle/>
                    <a:p>
                      <a:r>
                        <a:rPr lang="tr-TR" sz="2200" dirty="0"/>
                        <a:t>MAC, tüm uygulama ayarlarını bir dizi halinde saklar .mac'te çeşitli tercihler klasörüne sahip plist dosyaları. Bu.plist dosyası tüm özellikleri düz metin veya ikili biçimde içerir. Bunlar şu adreste saklanır:</a:t>
                      </a:r>
                      <a:endParaRPr lang="tr-TR" sz="2200" b="0" i="0" kern="1200" dirty="0">
                        <a:solidFill>
                          <a:schemeClr val="dk1"/>
                        </a:solidFill>
                        <a:effectLst/>
                        <a:latin typeface="+mn-lt"/>
                        <a:ea typeface="+mn-ea"/>
                        <a:cs typeface="+mn-cs"/>
                      </a:endParaRPr>
                    </a:p>
                    <a:p>
                      <a:r>
                        <a:rPr lang="tr-TR" sz="2200" b="0" i="0" kern="1200" dirty="0">
                          <a:solidFill>
                            <a:schemeClr val="dk1"/>
                          </a:solidFill>
                          <a:effectLst/>
                          <a:latin typeface="+mn-lt"/>
                          <a:ea typeface="+mn-ea"/>
                          <a:cs typeface="+mn-cs"/>
                        </a:rPr>
                        <a:t>/ Library / Tercihler klasörü</a:t>
                      </a:r>
                    </a:p>
                    <a:p>
                      <a:endParaRPr lang="tr-TR" dirty="0"/>
                    </a:p>
                  </a:txBody>
                  <a:tcPr/>
                </a:tc>
                <a:tc>
                  <a:txBody>
                    <a:bodyPr/>
                    <a:lstStyle/>
                    <a:p>
                      <a:r>
                        <a:rPr lang="tr-TR" sz="2100" dirty="0"/>
                        <a:t>Linux'un kendine ait belirli bir kayıt defteri de yoktur. Tüm uygulama ayarları, depolanan dosyaların aynı hiyerarşi biçiminde farklı kullanıcılar altında program bazında depolanır. Bu ayrıntıları depolamak için merkezi bir veritabanı yoktur ve bu nedenle periyodik temizlik de gerekli değildir.</a:t>
                      </a:r>
                    </a:p>
                  </a:txBody>
                  <a:tcPr/>
                </a:tc>
                <a:extLst>
                  <a:ext uri="{0D108BD9-81ED-4DB2-BD59-A6C34878D82A}">
                    <a16:rowId xmlns:a16="http://schemas.microsoft.com/office/drawing/2014/main" val="2112349381"/>
                  </a:ext>
                </a:extLst>
              </a:tr>
            </a:tbl>
          </a:graphicData>
        </a:graphic>
      </p:graphicFrame>
    </p:spTree>
    <p:extLst>
      <p:ext uri="{BB962C8B-B14F-4D97-AF65-F5344CB8AC3E}">
        <p14:creationId xmlns:p14="http://schemas.microsoft.com/office/powerpoint/2010/main" val="3231508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0FB6-6BBD-4C2B-9A01-22612F3F9E72}"/>
              </a:ext>
            </a:extLst>
          </p:cNvPr>
          <p:cNvSpPr>
            <a:spLocks noGrp="1"/>
          </p:cNvSpPr>
          <p:nvPr>
            <p:ph type="title"/>
          </p:nvPr>
        </p:nvSpPr>
        <p:spPr>
          <a:xfrm>
            <a:off x="2165350" y="658312"/>
            <a:ext cx="10026650" cy="655637"/>
          </a:xfrm>
        </p:spPr>
        <p:txBody>
          <a:bodyPr/>
          <a:lstStyle/>
          <a:p>
            <a:r>
              <a:rPr lang="tr-TR" dirty="0"/>
              <a:t>Değiştirilebilir arayüz farkı</a:t>
            </a:r>
          </a:p>
        </p:txBody>
      </p:sp>
      <p:graphicFrame>
        <p:nvGraphicFramePr>
          <p:cNvPr id="6" name="Table 6">
            <a:extLst>
              <a:ext uri="{FF2B5EF4-FFF2-40B4-BE49-F238E27FC236}">
                <a16:creationId xmlns:a16="http://schemas.microsoft.com/office/drawing/2014/main" id="{D1DE5EB2-3EC3-47DD-9C3B-EA985CDFB686}"/>
              </a:ext>
            </a:extLst>
          </p:cNvPr>
          <p:cNvGraphicFramePr>
            <a:graphicFrameLocks noGrp="1"/>
          </p:cNvGraphicFramePr>
          <p:nvPr>
            <p:ph idx="1"/>
            <p:extLst>
              <p:ext uri="{D42A27DB-BD31-4B8C-83A1-F6EECF244321}">
                <p14:modId xmlns:p14="http://schemas.microsoft.com/office/powerpoint/2010/main" val="1769245946"/>
              </p:ext>
            </p:extLst>
          </p:nvPr>
        </p:nvGraphicFramePr>
        <p:xfrm>
          <a:off x="352926" y="1790700"/>
          <a:ext cx="11614485" cy="4802605"/>
        </p:xfrm>
        <a:graphic>
          <a:graphicData uri="http://schemas.openxmlformats.org/drawingml/2006/table">
            <a:tbl>
              <a:tblPr firstRow="1" bandRow="1">
                <a:tableStyleId>{5C22544A-7EE6-4342-B048-85BDC9FD1C3A}</a:tableStyleId>
              </a:tblPr>
              <a:tblGrid>
                <a:gridCol w="3871495">
                  <a:extLst>
                    <a:ext uri="{9D8B030D-6E8A-4147-A177-3AD203B41FA5}">
                      <a16:colId xmlns:a16="http://schemas.microsoft.com/office/drawing/2014/main" val="74509120"/>
                    </a:ext>
                  </a:extLst>
                </a:gridCol>
                <a:gridCol w="3871495">
                  <a:extLst>
                    <a:ext uri="{9D8B030D-6E8A-4147-A177-3AD203B41FA5}">
                      <a16:colId xmlns:a16="http://schemas.microsoft.com/office/drawing/2014/main" val="1215695187"/>
                    </a:ext>
                  </a:extLst>
                </a:gridCol>
                <a:gridCol w="3871495">
                  <a:extLst>
                    <a:ext uri="{9D8B030D-6E8A-4147-A177-3AD203B41FA5}">
                      <a16:colId xmlns:a16="http://schemas.microsoft.com/office/drawing/2014/main" val="115084907"/>
                    </a:ext>
                  </a:extLst>
                </a:gridCol>
              </a:tblGrid>
              <a:tr h="635594">
                <a:tc>
                  <a:txBody>
                    <a:bodyPr/>
                    <a:lstStyle/>
                    <a:p>
                      <a:r>
                        <a:rPr lang="tr-TR" sz="2800" dirty="0"/>
                        <a:t>           Windows</a:t>
                      </a:r>
                    </a:p>
                  </a:txBody>
                  <a:tcPr/>
                </a:tc>
                <a:tc>
                  <a:txBody>
                    <a:bodyPr/>
                    <a:lstStyle/>
                    <a:p>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3144600257"/>
                  </a:ext>
                </a:extLst>
              </a:tr>
              <a:tr h="4167011">
                <a:tc>
                  <a:txBody>
                    <a:bodyPr/>
                    <a:lstStyle/>
                    <a:p>
                      <a:r>
                        <a:rPr lang="tr-TR" sz="2600" dirty="0"/>
                        <a:t>Windows arabirimi, Windows 8'e kadar değiştirilemedi. Windows XP'nin bazı geliştirmeleri vardı, ancak eşit değildi. Başlat menüsü, görev çubuğu, sistem tepsisi ve Windows Gezgini.</a:t>
                      </a:r>
                    </a:p>
                  </a:txBody>
                  <a:tcPr/>
                </a:tc>
                <a:tc>
                  <a:txBody>
                    <a:bodyPr/>
                    <a:lstStyle/>
                    <a:p>
                      <a:r>
                        <a:rPr lang="tr-TR" sz="3200" dirty="0"/>
                        <a:t>Mac'in sanal ağ arabirimlerini köprüleme olanağı vardır. Bu, sistem tercihleri'ne gidip arayüzleri yöneterek yapılabilir.</a:t>
                      </a:r>
                    </a:p>
                  </a:txBody>
                  <a:tcPr/>
                </a:tc>
                <a:tc>
                  <a:txBody>
                    <a:bodyPr/>
                    <a:lstStyle/>
                    <a:p>
                      <a:r>
                        <a:rPr lang="tr-TR" sz="2300" dirty="0"/>
                        <a:t>Linux arayüzleri değiştirmek kolaydır. Tüm yüklemeleri taşımak zorunda kalmadan ortamı değiştirebilirsiniz. Bu ihtiyaçların karşılanmasında yardımcı olan GNOME ve KDE gibi yardımcı programlar vardır. Farklı yönlere odaklanmada yardımcı olurlar.</a:t>
                      </a:r>
                    </a:p>
                  </a:txBody>
                  <a:tcPr/>
                </a:tc>
                <a:extLst>
                  <a:ext uri="{0D108BD9-81ED-4DB2-BD59-A6C34878D82A}">
                    <a16:rowId xmlns:a16="http://schemas.microsoft.com/office/drawing/2014/main" val="3113685641"/>
                  </a:ext>
                </a:extLst>
              </a:tr>
            </a:tbl>
          </a:graphicData>
        </a:graphic>
      </p:graphicFrame>
    </p:spTree>
    <p:extLst>
      <p:ext uri="{BB962C8B-B14F-4D97-AF65-F5344CB8AC3E}">
        <p14:creationId xmlns:p14="http://schemas.microsoft.com/office/powerpoint/2010/main" val="1046552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0DC8-58AE-4418-9C58-2210E45788FD}"/>
              </a:ext>
            </a:extLst>
          </p:cNvPr>
          <p:cNvSpPr>
            <a:spLocks noGrp="1"/>
          </p:cNvSpPr>
          <p:nvPr>
            <p:ph type="title"/>
          </p:nvPr>
        </p:nvSpPr>
        <p:spPr>
          <a:xfrm>
            <a:off x="2956426" y="761206"/>
            <a:ext cx="10026650" cy="655637"/>
          </a:xfrm>
        </p:spPr>
        <p:txBody>
          <a:bodyPr/>
          <a:lstStyle/>
          <a:p>
            <a:r>
              <a:rPr lang="tr-TR" dirty="0"/>
              <a:t>Komut terminali farkı</a:t>
            </a:r>
          </a:p>
        </p:txBody>
      </p:sp>
      <p:graphicFrame>
        <p:nvGraphicFramePr>
          <p:cNvPr id="4" name="Table 4">
            <a:extLst>
              <a:ext uri="{FF2B5EF4-FFF2-40B4-BE49-F238E27FC236}">
                <a16:creationId xmlns:a16="http://schemas.microsoft.com/office/drawing/2014/main" id="{770F3340-6ED1-45A3-887A-B657EC8BCC05}"/>
              </a:ext>
            </a:extLst>
          </p:cNvPr>
          <p:cNvGraphicFramePr>
            <a:graphicFrameLocks noGrp="1"/>
          </p:cNvGraphicFramePr>
          <p:nvPr>
            <p:ph idx="1"/>
            <p:extLst>
              <p:ext uri="{D42A27DB-BD31-4B8C-83A1-F6EECF244321}">
                <p14:modId xmlns:p14="http://schemas.microsoft.com/office/powerpoint/2010/main" val="4194891138"/>
              </p:ext>
            </p:extLst>
          </p:nvPr>
        </p:nvGraphicFramePr>
        <p:xfrm>
          <a:off x="352926" y="1668379"/>
          <a:ext cx="11438022" cy="5059680"/>
        </p:xfrm>
        <a:graphic>
          <a:graphicData uri="http://schemas.openxmlformats.org/drawingml/2006/table">
            <a:tbl>
              <a:tblPr firstRow="1" bandRow="1">
                <a:tableStyleId>{5C22544A-7EE6-4342-B048-85BDC9FD1C3A}</a:tableStyleId>
              </a:tblPr>
              <a:tblGrid>
                <a:gridCol w="3812674">
                  <a:extLst>
                    <a:ext uri="{9D8B030D-6E8A-4147-A177-3AD203B41FA5}">
                      <a16:colId xmlns:a16="http://schemas.microsoft.com/office/drawing/2014/main" val="4195481909"/>
                    </a:ext>
                  </a:extLst>
                </a:gridCol>
                <a:gridCol w="3812674">
                  <a:extLst>
                    <a:ext uri="{9D8B030D-6E8A-4147-A177-3AD203B41FA5}">
                      <a16:colId xmlns:a16="http://schemas.microsoft.com/office/drawing/2014/main" val="93407070"/>
                    </a:ext>
                  </a:extLst>
                </a:gridCol>
                <a:gridCol w="3812674">
                  <a:extLst>
                    <a:ext uri="{9D8B030D-6E8A-4147-A177-3AD203B41FA5}">
                      <a16:colId xmlns:a16="http://schemas.microsoft.com/office/drawing/2014/main" val="1462525642"/>
                    </a:ext>
                  </a:extLst>
                </a:gridCol>
              </a:tblGrid>
              <a:tr h="609600">
                <a:tc>
                  <a:txBody>
                    <a:bodyPr/>
                    <a:lstStyle/>
                    <a:p>
                      <a:r>
                        <a:rPr lang="tr-TR" sz="3200" dirty="0"/>
                        <a:t>         Windows</a:t>
                      </a:r>
                    </a:p>
                  </a:txBody>
                  <a:tcPr/>
                </a:tc>
                <a:tc>
                  <a:txBody>
                    <a:bodyPr/>
                    <a:lstStyle/>
                    <a:p>
                      <a:r>
                        <a:rPr lang="tr-TR" sz="3200" dirty="0"/>
                        <a:t>           macOS</a:t>
                      </a:r>
                    </a:p>
                  </a:txBody>
                  <a:tcPr/>
                </a:tc>
                <a:tc>
                  <a:txBody>
                    <a:bodyPr/>
                    <a:lstStyle/>
                    <a:p>
                      <a:r>
                        <a:rPr lang="tr-TR" sz="3200" dirty="0"/>
                        <a:t>             Linux</a:t>
                      </a:r>
                    </a:p>
                  </a:txBody>
                  <a:tcPr/>
                </a:tc>
                <a:extLst>
                  <a:ext uri="{0D108BD9-81ED-4DB2-BD59-A6C34878D82A}">
                    <a16:rowId xmlns:a16="http://schemas.microsoft.com/office/drawing/2014/main" val="253754441"/>
                  </a:ext>
                </a:extLst>
              </a:tr>
              <a:tr h="4170947">
                <a:tc>
                  <a:txBody>
                    <a:bodyPr/>
                    <a:lstStyle/>
                    <a:p>
                      <a:r>
                        <a:rPr lang="tr-TR" sz="2200" dirty="0"/>
                        <a:t>Bir terminal veya komut istemi, komutları yürütmek için ideal olarak kullanılan bir kara kutudur. Ayrıca Windows Komut İşlemcisi olarak da adlandırılır. Komutları ve farklı toplu iş dosyalarını yürütmek için kullanılır. Ayrıca yönetim işlevleri için kullanılabilir ve tüm windows sorunlarını giderebilir ve çözebilir.</a:t>
                      </a:r>
                    </a:p>
                  </a:txBody>
                  <a:tcPr/>
                </a:tc>
                <a:tc>
                  <a:txBody>
                    <a:bodyPr/>
                    <a:lstStyle/>
                    <a:p>
                      <a:r>
                        <a:rPr lang="tr-TR" sz="1900" dirty="0"/>
                        <a:t>MAC, bir terminal uygulaması olarak bir konsol sağlar. Bir konsol, komut satırı, komut istemi ve terminali vardır. Komutlarınızı yazmak için bir Komut satırı kullanılır. Komut istemi size bazı bilgiler sağlar ve ayrıca komutları çalıştırmanıza olanak tanır. Terminal, modern grafik kullanıcı arayüzünü de sağlayacak gerçek bir arayüzdür.</a:t>
                      </a:r>
                      <a:endParaRPr lang="tr-TR" sz="1900" b="0" i="0" kern="1200" dirty="0">
                        <a:solidFill>
                          <a:schemeClr val="dk1"/>
                        </a:solidFill>
                        <a:effectLst/>
                        <a:latin typeface="+mn-lt"/>
                        <a:ea typeface="+mn-ea"/>
                        <a:cs typeface="+mn-cs"/>
                      </a:endParaRPr>
                    </a:p>
                    <a:p>
                      <a:r>
                        <a:rPr lang="tr-TR" sz="1900" b="0" i="0" kern="1200" dirty="0">
                          <a:solidFill>
                            <a:schemeClr val="dk1"/>
                          </a:solidFill>
                          <a:effectLst/>
                          <a:latin typeface="+mn-lt"/>
                          <a:ea typeface="+mn-ea"/>
                          <a:cs typeface="+mn-cs"/>
                        </a:rPr>
                        <a:t>Terminali Uygulamalar - &gt; Yardımcı Programlar'da bulabilirsiniz.</a:t>
                      </a:r>
                    </a:p>
                    <a:p>
                      <a:endParaRPr lang="tr-TR" dirty="0"/>
                    </a:p>
                  </a:txBody>
                  <a:tcPr/>
                </a:tc>
                <a:tc>
                  <a:txBody>
                    <a:bodyPr/>
                    <a:lstStyle/>
                    <a:p>
                      <a:r>
                        <a:rPr lang="tr-TR" sz="2200" dirty="0"/>
                        <a:t>Linux ayrıca bir terminal sağlar. Terminali şu adreste bulabilirsiniz: Uygulamalar - &gt; Sistem veya Uygulamalar - &gt; &gt; Yardımcı Programlar. Buna ek olarak, bir kabuk istemi de vardır. Bash'ta kullanılan en yaygın kabuk. Terminalin nasıl davranacağını ve çalıştırıldığında nasıl görüneceğini tanımlar.</a:t>
                      </a:r>
                    </a:p>
                  </a:txBody>
                  <a:tcPr/>
                </a:tc>
                <a:extLst>
                  <a:ext uri="{0D108BD9-81ED-4DB2-BD59-A6C34878D82A}">
                    <a16:rowId xmlns:a16="http://schemas.microsoft.com/office/drawing/2014/main" val="886622456"/>
                  </a:ext>
                </a:extLst>
              </a:tr>
            </a:tbl>
          </a:graphicData>
        </a:graphic>
      </p:graphicFrame>
    </p:spTree>
    <p:extLst>
      <p:ext uri="{BB962C8B-B14F-4D97-AF65-F5344CB8AC3E}">
        <p14:creationId xmlns:p14="http://schemas.microsoft.com/office/powerpoint/2010/main" val="2536836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B03C-0D21-413F-BDC7-45F049153BF0}"/>
              </a:ext>
            </a:extLst>
          </p:cNvPr>
          <p:cNvSpPr>
            <a:spLocks noGrp="1"/>
          </p:cNvSpPr>
          <p:nvPr>
            <p:ph type="title"/>
          </p:nvPr>
        </p:nvSpPr>
        <p:spPr>
          <a:xfrm>
            <a:off x="4961690" y="761206"/>
            <a:ext cx="10026650" cy="655637"/>
          </a:xfrm>
        </p:spPr>
        <p:txBody>
          <a:bodyPr/>
          <a:lstStyle/>
          <a:p>
            <a:r>
              <a:rPr lang="tr-TR" dirty="0"/>
              <a:t>sonuç</a:t>
            </a:r>
          </a:p>
        </p:txBody>
      </p:sp>
      <p:sp>
        <p:nvSpPr>
          <p:cNvPr id="3" name="Content Placeholder 2">
            <a:extLst>
              <a:ext uri="{FF2B5EF4-FFF2-40B4-BE49-F238E27FC236}">
                <a16:creationId xmlns:a16="http://schemas.microsoft.com/office/drawing/2014/main" id="{E59B6E7D-F918-44D9-8729-2428B3F5B486}"/>
              </a:ext>
            </a:extLst>
          </p:cNvPr>
          <p:cNvSpPr>
            <a:spLocks noGrp="1"/>
          </p:cNvSpPr>
          <p:nvPr>
            <p:ph idx="1"/>
          </p:nvPr>
        </p:nvSpPr>
        <p:spPr/>
        <p:txBody>
          <a:bodyPr>
            <a:normAutofit/>
          </a:bodyPr>
          <a:lstStyle/>
          <a:p>
            <a:r>
              <a:rPr lang="tr-TR" sz="3200" dirty="0">
                <a:solidFill>
                  <a:schemeClr val="tx1">
                    <a:lumMod val="65000"/>
                    <a:alpha val="70000"/>
                  </a:schemeClr>
                </a:solidFill>
              </a:rPr>
              <a:t>Tüm bu işletim sistemlerinin kendi artıları ve eksileri vardır. Kullanıcıya ve işletim sisteminden ne beklediklerine ilişkin tercihlerine ve tercihlerine bağlıdır. Windows oyun oynamak için kullanılabilir. Programcılar Linux'u kullanabilir ve grafiklerle ilgilenen kişiler Mac'i kullanabilir.</a:t>
            </a:r>
          </a:p>
        </p:txBody>
      </p:sp>
    </p:spTree>
    <p:extLst>
      <p:ext uri="{BB962C8B-B14F-4D97-AF65-F5344CB8AC3E}">
        <p14:creationId xmlns:p14="http://schemas.microsoft.com/office/powerpoint/2010/main" val="2020785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FB99D-7A99-4335-ADBA-63D6A565D60D}"/>
              </a:ext>
            </a:extLst>
          </p:cNvPr>
          <p:cNvSpPr>
            <a:spLocks noGrp="1"/>
          </p:cNvSpPr>
          <p:nvPr>
            <p:ph type="title"/>
          </p:nvPr>
        </p:nvSpPr>
        <p:spPr>
          <a:xfrm>
            <a:off x="4143542" y="761206"/>
            <a:ext cx="10026650" cy="655637"/>
          </a:xfrm>
        </p:spPr>
        <p:txBody>
          <a:bodyPr/>
          <a:lstStyle/>
          <a:p>
            <a:r>
              <a:rPr lang="tr-TR" dirty="0"/>
              <a:t>referanslar</a:t>
            </a:r>
          </a:p>
        </p:txBody>
      </p:sp>
      <p:sp>
        <p:nvSpPr>
          <p:cNvPr id="3" name="Content Placeholder 2">
            <a:extLst>
              <a:ext uri="{FF2B5EF4-FFF2-40B4-BE49-F238E27FC236}">
                <a16:creationId xmlns:a16="http://schemas.microsoft.com/office/drawing/2014/main" id="{BE2CD7E0-6EA1-4F42-9A4C-62D81E1EBA65}"/>
              </a:ext>
            </a:extLst>
          </p:cNvPr>
          <p:cNvSpPr>
            <a:spLocks noGrp="1"/>
          </p:cNvSpPr>
          <p:nvPr>
            <p:ph idx="1"/>
          </p:nvPr>
        </p:nvSpPr>
        <p:spPr/>
        <p:txBody>
          <a:bodyPr>
            <a:normAutofit fontScale="92500" lnSpcReduction="10000"/>
          </a:bodyPr>
          <a:lstStyle/>
          <a:p>
            <a:r>
              <a:rPr lang="tr-TR" dirty="0">
                <a:hlinkClick r:id="rId2"/>
              </a:rPr>
              <a:t>https://tr.wikipedia.org/wiki/Anasayfa</a:t>
            </a:r>
            <a:endParaRPr lang="tr-TR" dirty="0"/>
          </a:p>
          <a:p>
            <a:r>
              <a:rPr lang="tr-TR" dirty="0">
                <a:hlinkClick r:id="rId3"/>
              </a:rPr>
              <a:t>https://forum.shiftdelete.net/konular/mac-os-windows-linux-isletim-sistemleri-hakkinda.610735/</a:t>
            </a:r>
            <a:endParaRPr lang="tr-TR" dirty="0"/>
          </a:p>
          <a:p>
            <a:r>
              <a:rPr lang="tr-TR" dirty="0">
                <a:hlinkClick r:id="rId4"/>
              </a:rPr>
              <a:t>https://www.teknoloji6.com/mac-isletim-sistemi-nedir-941/</a:t>
            </a:r>
            <a:endParaRPr lang="tr-TR" dirty="0"/>
          </a:p>
          <a:p>
            <a:r>
              <a:rPr lang="tr-TR" dirty="0">
                <a:hlinkClick r:id="rId5"/>
              </a:rPr>
              <a:t>http://www.informatics-tech.com/linux-vs-mac-vs-windows-unbiased-comparison.html</a:t>
            </a:r>
            <a:endParaRPr lang="tr-TR" dirty="0"/>
          </a:p>
          <a:p>
            <a:r>
              <a:rPr lang="tr-TR" dirty="0">
                <a:hlinkClick r:id="rId6"/>
              </a:rPr>
              <a:t>https://web.karabuk.edu.tr/ismail.karas/113/IsletimSistemleri.pdf</a:t>
            </a:r>
            <a:endParaRPr lang="tr-TR" dirty="0"/>
          </a:p>
          <a:p>
            <a:r>
              <a:rPr lang="tr-TR" dirty="0">
                <a:hlinkClick r:id="rId7"/>
              </a:rPr>
              <a:t>https://www.educba.com/linux-vs-mac-vs-windows/</a:t>
            </a:r>
            <a:endParaRPr lang="tr-TR" dirty="0"/>
          </a:p>
          <a:p>
            <a:r>
              <a:rPr lang="tr-TR" dirty="0">
                <a:hlinkClick r:id="rId8"/>
              </a:rPr>
              <a:t>http://web.hitit.edu.tr/dosyalar/duyurular/mustafacosar@hititedutr201020141S8E1N1P.pdf</a:t>
            </a:r>
            <a:endParaRPr lang="tr-TR" dirty="0"/>
          </a:p>
          <a:p>
            <a:endParaRPr lang="tr-TR" dirty="0"/>
          </a:p>
        </p:txBody>
      </p:sp>
    </p:spTree>
    <p:extLst>
      <p:ext uri="{BB962C8B-B14F-4D97-AF65-F5344CB8AC3E}">
        <p14:creationId xmlns:p14="http://schemas.microsoft.com/office/powerpoint/2010/main" val="727439328"/>
      </p:ext>
    </p:extLst>
  </p:cSld>
  <p:clrMapOvr>
    <a:masterClrMapping/>
  </p:clrMapOvr>
</p:sld>
</file>

<file path=ppt/theme/theme1.xml><?xml version="1.0" encoding="utf-8"?>
<a:theme xmlns:a="http://schemas.openxmlformats.org/drawingml/2006/main" name="LeafVTI">
  <a:themeElements>
    <a:clrScheme name="AnalogousFromLightSeedRightStep">
      <a:dk1>
        <a:srgbClr val="000000"/>
      </a:dk1>
      <a:lt1>
        <a:srgbClr val="FFFFFF"/>
      </a:lt1>
      <a:dk2>
        <a:srgbClr val="22333C"/>
      </a:dk2>
      <a:lt2>
        <a:srgbClr val="E2E3E8"/>
      </a:lt2>
      <a:accent1>
        <a:srgbClr val="AAA179"/>
      </a:accent1>
      <a:accent2>
        <a:srgbClr val="99A869"/>
      </a:accent2>
      <a:accent3>
        <a:srgbClr val="8AAB79"/>
      </a:accent3>
      <a:accent4>
        <a:srgbClr val="6EB072"/>
      </a:accent4>
      <a:accent5>
        <a:srgbClr val="78AA90"/>
      </a:accent5>
      <a:accent6>
        <a:srgbClr val="6BACA5"/>
      </a:accent6>
      <a:hlink>
        <a:srgbClr val="6976AE"/>
      </a:hlink>
      <a:folHlink>
        <a:srgbClr val="7F7F7F"/>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docProps/app.xml><?xml version="1.0" encoding="utf-8"?>
<Properties xmlns="http://schemas.openxmlformats.org/officeDocument/2006/extended-properties" xmlns:vt="http://schemas.openxmlformats.org/officeDocument/2006/docPropsVTypes">
  <Template>TM04033917[[fn=Berlin]]</Template>
  <TotalTime>259</TotalTime>
  <Words>1302</Words>
  <Application>Microsoft Office PowerPoint</Application>
  <PresentationFormat>Widescreen</PresentationFormat>
  <Paragraphs>79</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Avenir Next LT Pro</vt:lpstr>
      <vt:lpstr>Avenir Next LT Pro Light</vt:lpstr>
      <vt:lpstr>Linux Libertine</vt:lpstr>
      <vt:lpstr>Nunito Sans</vt:lpstr>
      <vt:lpstr>Rockwell Nova Light</vt:lpstr>
      <vt:lpstr>Signika Negative</vt:lpstr>
      <vt:lpstr>Wingdings</vt:lpstr>
      <vt:lpstr>LeafVTI</vt:lpstr>
      <vt:lpstr>İŞLETİM SİSTEMLERİ</vt:lpstr>
      <vt:lpstr>İşletim sistemi nedir?</vt:lpstr>
      <vt:lpstr>Microsoft Windows işletim sistemi </vt:lpstr>
      <vt:lpstr>Microsoft Windows işletim sistemi </vt:lpstr>
      <vt:lpstr>Linux işletim sistemi </vt:lpstr>
      <vt:lpstr>Linux işletim sistemi </vt:lpstr>
      <vt:lpstr>Macos işletim sistemi</vt:lpstr>
      <vt:lpstr>Macos işletim sistemi</vt:lpstr>
      <vt:lpstr>Macos sürüm bilgileri </vt:lpstr>
      <vt:lpstr>Linux, MAC ve Windows Arasındaki Temel Farklar </vt:lpstr>
      <vt:lpstr>Linux, MAC ve Windows Arasındaki Temel Farklar</vt:lpstr>
      <vt:lpstr>Dosya yapısı farkı</vt:lpstr>
      <vt:lpstr>KAYIT FARKI</vt:lpstr>
      <vt:lpstr>Değiştirilebilir arayüz farkı</vt:lpstr>
      <vt:lpstr>Komut terminali farkı</vt:lpstr>
      <vt:lpstr>sonuç</vt:lpstr>
      <vt:lpstr>referanslar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İŞLETİM SİSTEMLERİ</dc:title>
  <dc:creator>Samet Sarı</dc:creator>
  <cp:lastModifiedBy>Samet Sarı</cp:lastModifiedBy>
  <cp:revision>3</cp:revision>
  <dcterms:created xsi:type="dcterms:W3CDTF">2021-11-17T21:41:23Z</dcterms:created>
  <dcterms:modified xsi:type="dcterms:W3CDTF">2021-11-18T02:02:21Z</dcterms:modified>
</cp:coreProperties>
</file>