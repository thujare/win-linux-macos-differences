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5"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68" r:id="rId14"/>
    <p:sldId id="269" r:id="rId15"/>
    <p:sldId id="270" r:id="rId16"/>
    <p:sldId id="271"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5284FD-5E1D-41A9-8A6B-03E5CEB29431}" type="datetimeFigureOut">
              <a:rPr lang="tr-TR" smtClean="0"/>
              <a:t>18.11.2021</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F132EC-59D8-4EC7-B91E-C152C17CA5F3}" type="slidenum">
              <a:rPr lang="tr-TR" smtClean="0"/>
              <a:t>‹#›</a:t>
            </a:fld>
            <a:endParaRPr lang="tr-TR"/>
          </a:p>
        </p:txBody>
      </p:sp>
    </p:spTree>
    <p:extLst>
      <p:ext uri="{BB962C8B-B14F-4D97-AF65-F5344CB8AC3E}">
        <p14:creationId xmlns:p14="http://schemas.microsoft.com/office/powerpoint/2010/main" val="970447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59F132EC-59D8-4EC7-B91E-C152C17CA5F3}" type="slidenum">
              <a:rPr lang="tr-TR" smtClean="0"/>
              <a:t>2</a:t>
            </a:fld>
            <a:endParaRPr lang="tr-TR"/>
          </a:p>
        </p:txBody>
      </p:sp>
    </p:spTree>
    <p:extLst>
      <p:ext uri="{BB962C8B-B14F-4D97-AF65-F5344CB8AC3E}">
        <p14:creationId xmlns:p14="http://schemas.microsoft.com/office/powerpoint/2010/main" val="1583760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379205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903179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9052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76424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304589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36317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886733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149429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876095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057902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833367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11/18/2021</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663689576"/>
      </p:ext>
    </p:extLst>
  </p:cSld>
  <p:clrMap bg1="dk1" tx1="lt1" bg2="dk2" tx2="lt2" accent1="accent1" accent2="accent2" accent3="accent3" accent4="accent4" accent5="accent5" accent6="accent6" hlink="hlink" folHlink="folHlink"/>
  <p:sldLayoutIdLst>
    <p:sldLayoutId id="2147483819" r:id="rId1"/>
    <p:sldLayoutId id="2147483818" r:id="rId2"/>
    <p:sldLayoutId id="2147483817" r:id="rId3"/>
    <p:sldLayoutId id="2147483816" r:id="rId4"/>
    <p:sldLayoutId id="2147483808" r:id="rId5"/>
    <p:sldLayoutId id="2147483809" r:id="rId6"/>
    <p:sldLayoutId id="2147483810" r:id="rId7"/>
    <p:sldLayoutId id="2147483811" r:id="rId8"/>
    <p:sldLayoutId id="2147483812" r:id="rId9"/>
    <p:sldLayoutId id="2147483813" r:id="rId10"/>
    <p:sldLayoutId id="2147483814"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web.hitit.edu.tr/dosyalar/duyurular/mustafacosar@hititedutr201020141S8E1N1P.pdf" TargetMode="External"/><Relationship Id="rId3" Type="http://schemas.openxmlformats.org/officeDocument/2006/relationships/hyperlink" Target="https://forum.shiftdelete.net/konular/mac-os-windows-linux-isletim-sistemleri-hakkinda.610735/" TargetMode="External"/><Relationship Id="rId7" Type="http://schemas.openxmlformats.org/officeDocument/2006/relationships/hyperlink" Target="https://www.educba.com/linux-vs-mac-vs-windows/" TargetMode="External"/><Relationship Id="rId2" Type="http://schemas.openxmlformats.org/officeDocument/2006/relationships/hyperlink" Target="https://tr.wikipedia.org/wiki/Anasayfa" TargetMode="External"/><Relationship Id="rId1" Type="http://schemas.openxmlformats.org/officeDocument/2006/relationships/slideLayout" Target="../slideLayouts/slideLayout2.xml"/><Relationship Id="rId6" Type="http://schemas.openxmlformats.org/officeDocument/2006/relationships/hyperlink" Target="https://web.karabuk.edu.tr/ismail.karas/113/IsletimSistemleri.pdf" TargetMode="External"/><Relationship Id="rId5" Type="http://schemas.openxmlformats.org/officeDocument/2006/relationships/hyperlink" Target="http://www.informatics-tech.com/linux-vs-mac-vs-windows-unbiased-comparison.html" TargetMode="External"/><Relationship Id="rId4" Type="http://schemas.openxmlformats.org/officeDocument/2006/relationships/hyperlink" Target="https://www.teknoloji6.com/mac-isletim-sistemi-nedir-94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8FDC68-443C-4400-BCA9-D308E11EEA11}"/>
              </a:ext>
            </a:extLst>
          </p:cNvPr>
          <p:cNvSpPr>
            <a:spLocks noGrp="1"/>
          </p:cNvSpPr>
          <p:nvPr>
            <p:ph type="ctrTitle"/>
          </p:nvPr>
        </p:nvSpPr>
        <p:spPr>
          <a:xfrm>
            <a:off x="1079510" y="4602162"/>
            <a:ext cx="4457690" cy="1720850"/>
          </a:xfrm>
        </p:spPr>
        <p:txBody>
          <a:bodyPr anchor="ctr">
            <a:normAutofit/>
          </a:bodyPr>
          <a:lstStyle/>
          <a:p>
            <a:r>
              <a:rPr lang="tr-TR" dirty="0"/>
              <a:t>operating systems</a:t>
            </a:r>
          </a:p>
        </p:txBody>
      </p:sp>
      <p:sp>
        <p:nvSpPr>
          <p:cNvPr id="3" name="Subtitle 2">
            <a:extLst>
              <a:ext uri="{FF2B5EF4-FFF2-40B4-BE49-F238E27FC236}">
                <a16:creationId xmlns:a16="http://schemas.microsoft.com/office/drawing/2014/main" id="{F8D8E5D0-4A78-4646-84B5-99DB9D16EC38}"/>
              </a:ext>
            </a:extLst>
          </p:cNvPr>
          <p:cNvSpPr>
            <a:spLocks noGrp="1"/>
          </p:cNvSpPr>
          <p:nvPr>
            <p:ph type="subTitle" idx="1"/>
          </p:nvPr>
        </p:nvSpPr>
        <p:spPr>
          <a:xfrm>
            <a:off x="6654801" y="4602163"/>
            <a:ext cx="4451347" cy="1720850"/>
          </a:xfrm>
        </p:spPr>
        <p:txBody>
          <a:bodyPr anchor="ctr">
            <a:normAutofit/>
          </a:bodyPr>
          <a:lstStyle/>
          <a:p>
            <a:pPr>
              <a:lnSpc>
                <a:spcPct val="115000"/>
              </a:lnSpc>
            </a:pPr>
            <a:r>
              <a:rPr lang="en-US" sz="1300" dirty="0"/>
              <a:t>Recep Tayyip Erdogan University</a:t>
            </a:r>
            <a:endParaRPr lang="tr-TR" sz="1300" dirty="0"/>
          </a:p>
          <a:p>
            <a:pPr>
              <a:lnSpc>
                <a:spcPct val="115000"/>
              </a:lnSpc>
            </a:pPr>
            <a:r>
              <a:rPr lang="en-US" sz="1300" dirty="0"/>
              <a:t>Faculty </a:t>
            </a:r>
            <a:r>
              <a:rPr lang="tr-TR" sz="1300" dirty="0"/>
              <a:t>of </a:t>
            </a:r>
            <a:r>
              <a:rPr lang="en-US" sz="1300" dirty="0"/>
              <a:t>Engineering and Architecture</a:t>
            </a:r>
            <a:endParaRPr lang="tr-TR" sz="1300" dirty="0"/>
          </a:p>
          <a:p>
            <a:pPr>
              <a:lnSpc>
                <a:spcPct val="115000"/>
              </a:lnSpc>
            </a:pPr>
            <a:r>
              <a:rPr lang="en-US" sz="1300" dirty="0"/>
              <a:t>Computer </a:t>
            </a:r>
            <a:r>
              <a:rPr lang="tr-TR" sz="1300"/>
              <a:t>Engineering </a:t>
            </a:r>
            <a:r>
              <a:rPr lang="en-US" sz="1300"/>
              <a:t>Department</a:t>
            </a:r>
            <a:endParaRPr lang="tr-TR" sz="1300" dirty="0"/>
          </a:p>
          <a:p>
            <a:pPr>
              <a:lnSpc>
                <a:spcPct val="115000"/>
              </a:lnSpc>
            </a:pPr>
            <a:r>
              <a:rPr lang="en-US" sz="1300" dirty="0"/>
              <a:t> Engineering</a:t>
            </a:r>
            <a:r>
              <a:rPr lang="tr-TR" sz="1300" dirty="0"/>
              <a:t> </a:t>
            </a:r>
            <a:r>
              <a:rPr lang="en-US" sz="1300" dirty="0"/>
              <a:t>Advisor: Prof. Dr. Y</a:t>
            </a:r>
            <a:r>
              <a:rPr lang="tr-TR" sz="1300" dirty="0"/>
              <a:t>ıldıran</a:t>
            </a:r>
            <a:r>
              <a:rPr lang="en-US" sz="1300" dirty="0"/>
              <a:t> YILMAZ</a:t>
            </a:r>
            <a:endParaRPr lang="tr-TR" sz="1300" dirty="0"/>
          </a:p>
          <a:p>
            <a:pPr>
              <a:lnSpc>
                <a:spcPct val="115000"/>
              </a:lnSpc>
            </a:pPr>
            <a:r>
              <a:rPr lang="en-US" sz="1300" dirty="0"/>
              <a:t>Samet </a:t>
            </a:r>
            <a:r>
              <a:rPr lang="tr-TR" sz="1300" dirty="0"/>
              <a:t>SARI      </a:t>
            </a:r>
            <a:r>
              <a:rPr lang="en-US" sz="1300" dirty="0"/>
              <a:t>11/18/2021</a:t>
            </a:r>
            <a:endParaRPr lang="tr-TR" sz="1300" dirty="0"/>
          </a:p>
        </p:txBody>
      </p:sp>
      <p:pic>
        <p:nvPicPr>
          <p:cNvPr id="4" name="Picture 3" descr="Multi-coloured circuit board">
            <a:extLst>
              <a:ext uri="{FF2B5EF4-FFF2-40B4-BE49-F238E27FC236}">
                <a16:creationId xmlns:a16="http://schemas.microsoft.com/office/drawing/2014/main" id="{9BD48696-A0FD-40BC-979A-39A35FD7E5E0}"/>
              </a:ext>
            </a:extLst>
          </p:cNvPr>
          <p:cNvPicPr>
            <a:picLocks noChangeAspect="1"/>
          </p:cNvPicPr>
          <p:nvPr/>
        </p:nvPicPr>
        <p:blipFill rotWithShape="1">
          <a:blip r:embed="rId2"/>
          <a:srcRect t="16108" b="27602"/>
          <a:stretch/>
        </p:blipFill>
        <p:spPr>
          <a:xfrm>
            <a:off x="20" y="10"/>
            <a:ext cx="12191977" cy="4014777"/>
          </a:xfrm>
          <a:prstGeom prst="rect">
            <a:avLst/>
          </a:prstGeom>
        </p:spPr>
      </p:pic>
      <p:cxnSp>
        <p:nvCxnSpPr>
          <p:cNvPr id="42" name="Straight Connector 41">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546258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97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93AD8-9BF5-4276-8D35-5DCD653C06AC}"/>
              </a:ext>
            </a:extLst>
          </p:cNvPr>
          <p:cNvSpPr>
            <a:spLocks noGrp="1"/>
          </p:cNvSpPr>
          <p:nvPr>
            <p:ph type="title"/>
          </p:nvPr>
        </p:nvSpPr>
        <p:spPr/>
        <p:txBody>
          <a:bodyPr/>
          <a:lstStyle/>
          <a:p>
            <a:r>
              <a:rPr lang="tr-TR" dirty="0"/>
              <a:t>What is operating system?</a:t>
            </a:r>
          </a:p>
        </p:txBody>
      </p:sp>
      <p:sp>
        <p:nvSpPr>
          <p:cNvPr id="3" name="Content Placeholder 2">
            <a:extLst>
              <a:ext uri="{FF2B5EF4-FFF2-40B4-BE49-F238E27FC236}">
                <a16:creationId xmlns:a16="http://schemas.microsoft.com/office/drawing/2014/main" id="{5A3FAA96-EBAC-4330-A5B6-202A10BAC47F}"/>
              </a:ext>
            </a:extLst>
          </p:cNvPr>
          <p:cNvSpPr>
            <a:spLocks noGrp="1"/>
          </p:cNvSpPr>
          <p:nvPr>
            <p:ph idx="1"/>
          </p:nvPr>
        </p:nvSpPr>
        <p:spPr>
          <a:xfrm>
            <a:off x="1079500" y="1868487"/>
            <a:ext cx="10026650" cy="3978275"/>
          </a:xfrm>
        </p:spPr>
        <p:txBody>
          <a:bodyPr>
            <a:normAutofit/>
          </a:bodyPr>
          <a:lstStyle/>
          <a:p>
            <a:r>
              <a:rPr lang="en-US" sz="2400" dirty="0"/>
              <a:t>OS; It is a set of software that manages hardware resources running on the computer and provides common services for various application software.</a:t>
            </a:r>
            <a:r>
              <a:rPr lang="tr-TR" sz="2400" dirty="0"/>
              <a:t> </a:t>
            </a:r>
          </a:p>
          <a:p>
            <a:r>
              <a:rPr lang="en-US" sz="2400" dirty="0"/>
              <a:t>An operating system is considered the backbone of any system. Without the operating system, the user and system cannot interact. It acts as a mediator between the two. Basically, we have three types of operating systems namely Linux, MAC and Windows.</a:t>
            </a:r>
            <a:endParaRPr lang="tr-TR" sz="2400" dirty="0"/>
          </a:p>
        </p:txBody>
      </p:sp>
      <p:pic>
        <p:nvPicPr>
          <p:cNvPr id="5" name="Picture 4" descr="A picture containing text&#10;&#10;Description automatically generated">
            <a:extLst>
              <a:ext uri="{FF2B5EF4-FFF2-40B4-BE49-F238E27FC236}">
                <a16:creationId xmlns:a16="http://schemas.microsoft.com/office/drawing/2014/main" id="{DEC33040-FC76-4C70-B057-2FB1EB57FA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4073" y="5021013"/>
            <a:ext cx="3768436" cy="1516038"/>
          </a:xfrm>
          <a:prstGeom prst="rect">
            <a:avLst/>
          </a:prstGeom>
        </p:spPr>
      </p:pic>
    </p:spTree>
    <p:extLst>
      <p:ext uri="{BB962C8B-B14F-4D97-AF65-F5344CB8AC3E}">
        <p14:creationId xmlns:p14="http://schemas.microsoft.com/office/powerpoint/2010/main" val="1937277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43E4E-D978-41B1-AC6A-6EA1F7AC0946}"/>
              </a:ext>
            </a:extLst>
          </p:cNvPr>
          <p:cNvSpPr>
            <a:spLocks noGrp="1"/>
          </p:cNvSpPr>
          <p:nvPr>
            <p:ph type="title"/>
          </p:nvPr>
        </p:nvSpPr>
        <p:spPr/>
        <p:txBody>
          <a:bodyPr/>
          <a:lstStyle/>
          <a:p>
            <a:r>
              <a:rPr lang="tr-TR" dirty="0"/>
              <a:t>Microsoft Windows operating system</a:t>
            </a:r>
          </a:p>
        </p:txBody>
      </p:sp>
      <p:sp>
        <p:nvSpPr>
          <p:cNvPr id="3" name="Content Placeholder 2">
            <a:extLst>
              <a:ext uri="{FF2B5EF4-FFF2-40B4-BE49-F238E27FC236}">
                <a16:creationId xmlns:a16="http://schemas.microsoft.com/office/drawing/2014/main" id="{69988B89-6DFC-4AB5-A544-8EB54556DE41}"/>
              </a:ext>
            </a:extLst>
          </p:cNvPr>
          <p:cNvSpPr>
            <a:spLocks noGrp="1"/>
          </p:cNvSpPr>
          <p:nvPr>
            <p:ph idx="1"/>
          </p:nvPr>
        </p:nvSpPr>
        <p:spPr/>
        <p:txBody>
          <a:bodyPr>
            <a:normAutofit/>
          </a:bodyPr>
          <a:lstStyle/>
          <a:p>
            <a:r>
              <a:rPr lang="en-US" sz="2400" dirty="0"/>
              <a:t>Microsoft Windows is the most used operating system in the world, developed by the Microsoft company, which approaches the user with graphical interfaces and visual messages, eliminating the need to type from the keyboard such as running software and giving commands.</a:t>
            </a:r>
            <a:endParaRPr lang="tr-TR" sz="2400" dirty="0"/>
          </a:p>
          <a:p>
            <a:r>
              <a:rPr lang="en-US" sz="2400" dirty="0"/>
              <a:t>The first Windows was released on November 20, 1985.</a:t>
            </a:r>
            <a:endParaRPr lang="tr-TR" sz="2400" dirty="0"/>
          </a:p>
        </p:txBody>
      </p:sp>
      <p:pic>
        <p:nvPicPr>
          <p:cNvPr id="5" name="Picture 4" descr="Logo&#10;&#10;Description automatically generated with medium confidence">
            <a:extLst>
              <a:ext uri="{FF2B5EF4-FFF2-40B4-BE49-F238E27FC236}">
                <a16:creationId xmlns:a16="http://schemas.microsoft.com/office/drawing/2014/main" id="{6EDF8B5C-ECC4-4E38-8506-6397C2FE62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3651" y="4699500"/>
            <a:ext cx="5044697" cy="1069475"/>
          </a:xfrm>
          <a:prstGeom prst="rect">
            <a:avLst/>
          </a:prstGeom>
        </p:spPr>
      </p:pic>
    </p:spTree>
    <p:extLst>
      <p:ext uri="{BB962C8B-B14F-4D97-AF65-F5344CB8AC3E}">
        <p14:creationId xmlns:p14="http://schemas.microsoft.com/office/powerpoint/2010/main" val="1191170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5F253-AC6E-4715-97E2-111209A53B74}"/>
              </a:ext>
            </a:extLst>
          </p:cNvPr>
          <p:cNvSpPr>
            <a:spLocks noGrp="1"/>
          </p:cNvSpPr>
          <p:nvPr>
            <p:ph type="title"/>
          </p:nvPr>
        </p:nvSpPr>
        <p:spPr/>
        <p:txBody>
          <a:bodyPr/>
          <a:lstStyle/>
          <a:p>
            <a:r>
              <a:rPr lang="tr-TR" dirty="0"/>
              <a:t>Microsoft Windows operating system</a:t>
            </a:r>
          </a:p>
        </p:txBody>
      </p:sp>
      <p:sp>
        <p:nvSpPr>
          <p:cNvPr id="3" name="Content Placeholder 2">
            <a:extLst>
              <a:ext uri="{FF2B5EF4-FFF2-40B4-BE49-F238E27FC236}">
                <a16:creationId xmlns:a16="http://schemas.microsoft.com/office/drawing/2014/main" id="{20F9A1C9-E8F7-4514-8CAB-DA08459D2B6E}"/>
              </a:ext>
            </a:extLst>
          </p:cNvPr>
          <p:cNvSpPr>
            <a:spLocks noGrp="1"/>
          </p:cNvSpPr>
          <p:nvPr>
            <p:ph idx="1"/>
          </p:nvPr>
        </p:nvSpPr>
        <p:spPr/>
        <p:txBody>
          <a:bodyPr>
            <a:noAutofit/>
          </a:bodyPr>
          <a:lstStyle/>
          <a:p>
            <a:r>
              <a:rPr lang="en-US" sz="2400" dirty="0"/>
              <a:t>The latest version of the Microsoft Windows operating system is Windows 11, which was released on October 5, 2021. After Windows Vista, Microsoft achieved success with Windows 7 and continued this success with Windows 8 and Windows 10.</a:t>
            </a:r>
            <a:endParaRPr lang="tr-TR" sz="2400" dirty="0"/>
          </a:p>
          <a:p>
            <a:endParaRPr lang="tr-TR" sz="2400" dirty="0"/>
          </a:p>
          <a:p>
            <a:endParaRPr lang="tr-TR" sz="2400" dirty="0"/>
          </a:p>
          <a:p>
            <a:r>
              <a:rPr lang="en-US" sz="2400" dirty="0"/>
              <a:t>Microsoft Windows dominates 90% of the market because it is useful and economical.</a:t>
            </a:r>
            <a:endParaRPr lang="tr-TR" sz="2400" dirty="0"/>
          </a:p>
        </p:txBody>
      </p:sp>
      <p:pic>
        <p:nvPicPr>
          <p:cNvPr id="5" name="Picture 4">
            <a:extLst>
              <a:ext uri="{FF2B5EF4-FFF2-40B4-BE49-F238E27FC236}">
                <a16:creationId xmlns:a16="http://schemas.microsoft.com/office/drawing/2014/main" id="{473727D3-9978-44D7-94AC-5CB6B5BD14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5241" y="3837710"/>
            <a:ext cx="3658512" cy="673166"/>
          </a:xfrm>
          <a:prstGeom prst="rect">
            <a:avLst/>
          </a:prstGeom>
        </p:spPr>
      </p:pic>
    </p:spTree>
    <p:extLst>
      <p:ext uri="{BB962C8B-B14F-4D97-AF65-F5344CB8AC3E}">
        <p14:creationId xmlns:p14="http://schemas.microsoft.com/office/powerpoint/2010/main" val="1753606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9BBC0-7454-40E7-8614-BC3589FA99B3}"/>
              </a:ext>
            </a:extLst>
          </p:cNvPr>
          <p:cNvSpPr>
            <a:spLocks noGrp="1"/>
          </p:cNvSpPr>
          <p:nvPr>
            <p:ph type="title"/>
          </p:nvPr>
        </p:nvSpPr>
        <p:spPr/>
        <p:txBody>
          <a:bodyPr/>
          <a:lstStyle/>
          <a:p>
            <a:r>
              <a:rPr lang="tr-TR" dirty="0"/>
              <a:t>Linux operating system</a:t>
            </a:r>
          </a:p>
        </p:txBody>
      </p:sp>
      <p:sp>
        <p:nvSpPr>
          <p:cNvPr id="3" name="Content Placeholder 2">
            <a:extLst>
              <a:ext uri="{FF2B5EF4-FFF2-40B4-BE49-F238E27FC236}">
                <a16:creationId xmlns:a16="http://schemas.microsoft.com/office/drawing/2014/main" id="{B225FFFB-F3FA-4CCD-B94F-13045B0628A8}"/>
              </a:ext>
            </a:extLst>
          </p:cNvPr>
          <p:cNvSpPr>
            <a:spLocks noGrp="1"/>
          </p:cNvSpPr>
          <p:nvPr>
            <p:ph idx="1"/>
          </p:nvPr>
        </p:nvSpPr>
        <p:spPr/>
        <p:txBody>
          <a:bodyPr>
            <a:normAutofit/>
          </a:bodyPr>
          <a:lstStyle/>
          <a:p>
            <a:r>
              <a:rPr lang="en-US" sz="2400" dirty="0"/>
              <a:t>Linux was founded in 1999 by Helsinki University student Linus Torvalds.</a:t>
            </a:r>
            <a:endParaRPr lang="tr-TR" sz="2400" dirty="0"/>
          </a:p>
          <a:p>
            <a:r>
              <a:rPr lang="en-US" sz="2400" dirty="0"/>
              <a:t>It was originally released in 1991 and was designed for GNU developers. GNU developers later integrated it into Linux.</a:t>
            </a:r>
            <a:endParaRPr lang="tr-TR" sz="2400" dirty="0"/>
          </a:p>
          <a:p>
            <a:r>
              <a:rPr lang="en-US" sz="2400" dirty="0"/>
              <a:t>Linux has an open-source structure. This means that the person using the operating system can be aware of almost everything going on in the background of the computer and can organize and develop the operating system by himself.</a:t>
            </a:r>
            <a:endParaRPr lang="tr-TR" sz="2400" dirty="0"/>
          </a:p>
        </p:txBody>
      </p:sp>
    </p:spTree>
    <p:extLst>
      <p:ext uri="{BB962C8B-B14F-4D97-AF65-F5344CB8AC3E}">
        <p14:creationId xmlns:p14="http://schemas.microsoft.com/office/powerpoint/2010/main" val="3646863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E68A6-B79F-4637-9B53-3D89BD1EEEFD}"/>
              </a:ext>
            </a:extLst>
          </p:cNvPr>
          <p:cNvSpPr>
            <a:spLocks noGrp="1"/>
          </p:cNvSpPr>
          <p:nvPr>
            <p:ph type="title"/>
          </p:nvPr>
        </p:nvSpPr>
        <p:spPr/>
        <p:txBody>
          <a:bodyPr/>
          <a:lstStyle/>
          <a:p>
            <a:r>
              <a:rPr lang="tr-TR" dirty="0"/>
              <a:t>Linux operating system</a:t>
            </a:r>
          </a:p>
        </p:txBody>
      </p:sp>
      <p:sp>
        <p:nvSpPr>
          <p:cNvPr id="3" name="Content Placeholder 2">
            <a:extLst>
              <a:ext uri="{FF2B5EF4-FFF2-40B4-BE49-F238E27FC236}">
                <a16:creationId xmlns:a16="http://schemas.microsoft.com/office/drawing/2014/main" id="{64C050D0-0502-4580-831A-6D00E4F14F79}"/>
              </a:ext>
            </a:extLst>
          </p:cNvPr>
          <p:cNvSpPr>
            <a:spLocks noGrp="1"/>
          </p:cNvSpPr>
          <p:nvPr>
            <p:ph idx="1"/>
          </p:nvPr>
        </p:nvSpPr>
        <p:spPr/>
        <p:txBody>
          <a:bodyPr>
            <a:normAutofit/>
          </a:bodyPr>
          <a:lstStyle/>
          <a:p>
            <a:r>
              <a:rPr lang="en-US" sz="2400" dirty="0"/>
              <a:t>One of the first things you'll encounter on Linux will be an oversupply of software updates. Linux is constantly being updated and these updates are usually installed very quickly.</a:t>
            </a:r>
            <a:endParaRPr lang="tr-TR" sz="2400" dirty="0"/>
          </a:p>
          <a:p>
            <a:r>
              <a:rPr lang="en-US" sz="2400" dirty="0"/>
              <a:t>An application that contains a virus on Linux must be approved by the administrator with a password. Applications cannot make any changes to the operating system unless the password is entered. Therefore, Linux protects the computer without the need for any antivirus program.</a:t>
            </a:r>
            <a:endParaRPr lang="tr-TR" sz="2400" dirty="0"/>
          </a:p>
        </p:txBody>
      </p:sp>
      <p:pic>
        <p:nvPicPr>
          <p:cNvPr id="5" name="Picture 4" descr="A close-up of a penguin&#10;&#10;Description automatically generated with medium confidence">
            <a:extLst>
              <a:ext uri="{FF2B5EF4-FFF2-40B4-BE49-F238E27FC236}">
                <a16:creationId xmlns:a16="http://schemas.microsoft.com/office/drawing/2014/main" id="{77E01E3B-5637-4762-9E1C-ECA14D7150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00" y="4926589"/>
            <a:ext cx="952500" cy="1133475"/>
          </a:xfrm>
          <a:prstGeom prst="rect">
            <a:avLst/>
          </a:prstGeom>
        </p:spPr>
      </p:pic>
    </p:spTree>
    <p:extLst>
      <p:ext uri="{BB962C8B-B14F-4D97-AF65-F5344CB8AC3E}">
        <p14:creationId xmlns:p14="http://schemas.microsoft.com/office/powerpoint/2010/main" val="2687473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9457B-6819-4981-B850-BDAFA1F1B99F}"/>
              </a:ext>
            </a:extLst>
          </p:cNvPr>
          <p:cNvSpPr>
            <a:spLocks noGrp="1"/>
          </p:cNvSpPr>
          <p:nvPr>
            <p:ph type="title"/>
          </p:nvPr>
        </p:nvSpPr>
        <p:spPr/>
        <p:txBody>
          <a:bodyPr/>
          <a:lstStyle/>
          <a:p>
            <a:r>
              <a:rPr lang="tr-TR" dirty="0"/>
              <a:t>macOS operating system</a:t>
            </a:r>
          </a:p>
        </p:txBody>
      </p:sp>
      <p:sp>
        <p:nvSpPr>
          <p:cNvPr id="3" name="Content Placeholder 2">
            <a:extLst>
              <a:ext uri="{FF2B5EF4-FFF2-40B4-BE49-F238E27FC236}">
                <a16:creationId xmlns:a16="http://schemas.microsoft.com/office/drawing/2014/main" id="{38EA4025-F947-456B-B79C-CB5145F4FA03}"/>
              </a:ext>
            </a:extLst>
          </p:cNvPr>
          <p:cNvSpPr>
            <a:spLocks noGrp="1"/>
          </p:cNvSpPr>
          <p:nvPr>
            <p:ph idx="1"/>
          </p:nvPr>
        </p:nvSpPr>
        <p:spPr/>
        <p:txBody>
          <a:bodyPr>
            <a:normAutofit/>
          </a:bodyPr>
          <a:lstStyle/>
          <a:p>
            <a:r>
              <a:rPr lang="en-US" sz="2400" dirty="0"/>
              <a:t>macOS, (formerly 'Mac OS X' and 'OS X' is the latest version of the Macintosh family of operating systems and is an operating system designed by Apple Inc. for Macintosh computers.</a:t>
            </a:r>
            <a:endParaRPr lang="tr-TR" sz="2400" dirty="0"/>
          </a:p>
          <a:p>
            <a:endParaRPr lang="tr-TR" sz="2400" dirty="0"/>
          </a:p>
          <a:p>
            <a:endParaRPr lang="tr-TR" sz="2400" dirty="0"/>
          </a:p>
          <a:p>
            <a:r>
              <a:rPr lang="en-US" sz="2400" dirty="0"/>
              <a:t>This operating system is built on Mach microkernel and BSD and is based on Darwin, an open source operating system.</a:t>
            </a:r>
            <a:endParaRPr lang="tr-TR" sz="2400" dirty="0"/>
          </a:p>
        </p:txBody>
      </p:sp>
      <p:pic>
        <p:nvPicPr>
          <p:cNvPr id="5" name="Picture 4" descr="Shape&#10;&#10;Description automatically generated with medium confidence">
            <a:extLst>
              <a:ext uri="{FF2B5EF4-FFF2-40B4-BE49-F238E27FC236}">
                <a16:creationId xmlns:a16="http://schemas.microsoft.com/office/drawing/2014/main" id="{B1F716FA-6C81-4A09-A269-501797EC7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71189" y="2775238"/>
            <a:ext cx="1428750" cy="1695450"/>
          </a:xfrm>
          <a:prstGeom prst="rect">
            <a:avLst/>
          </a:prstGeom>
        </p:spPr>
      </p:pic>
    </p:spTree>
    <p:extLst>
      <p:ext uri="{BB962C8B-B14F-4D97-AF65-F5344CB8AC3E}">
        <p14:creationId xmlns:p14="http://schemas.microsoft.com/office/powerpoint/2010/main" val="2992648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4C11-69CF-4B29-B103-3FEAB2E80F42}"/>
              </a:ext>
            </a:extLst>
          </p:cNvPr>
          <p:cNvSpPr>
            <a:spLocks noGrp="1"/>
          </p:cNvSpPr>
          <p:nvPr>
            <p:ph type="title"/>
          </p:nvPr>
        </p:nvSpPr>
        <p:spPr/>
        <p:txBody>
          <a:bodyPr/>
          <a:lstStyle/>
          <a:p>
            <a:r>
              <a:rPr lang="tr-TR" dirty="0"/>
              <a:t>macOS operating system</a:t>
            </a:r>
          </a:p>
        </p:txBody>
      </p:sp>
      <p:sp>
        <p:nvSpPr>
          <p:cNvPr id="3" name="Content Placeholder 2">
            <a:extLst>
              <a:ext uri="{FF2B5EF4-FFF2-40B4-BE49-F238E27FC236}">
                <a16:creationId xmlns:a16="http://schemas.microsoft.com/office/drawing/2014/main" id="{4E2381F6-851A-45D9-913F-EF093B313521}"/>
              </a:ext>
            </a:extLst>
          </p:cNvPr>
          <p:cNvSpPr>
            <a:spLocks noGrp="1"/>
          </p:cNvSpPr>
          <p:nvPr>
            <p:ph idx="1"/>
          </p:nvPr>
        </p:nvSpPr>
        <p:spPr/>
        <p:txBody>
          <a:bodyPr>
            <a:normAutofit/>
          </a:bodyPr>
          <a:lstStyle/>
          <a:p>
            <a:r>
              <a:rPr lang="en-US" sz="2400" dirty="0"/>
              <a:t>macOS Server, on the other hand, is a separate operating system for Apple servers, although it is architecturally the same as desktop Mac OS X. Unlike Mac OS X, it includes advanced management tools.</a:t>
            </a:r>
            <a:endParaRPr lang="tr-TR" sz="2400" dirty="0"/>
          </a:p>
          <a:p>
            <a:r>
              <a:rPr lang="en-US" sz="2400" dirty="0"/>
              <a:t>Aqua was developed as the user interface in the Mac OS X operating system. Although the core of the system and some components are open source, most of its components are not open source.</a:t>
            </a:r>
            <a:endParaRPr lang="tr-TR" sz="2400" dirty="0"/>
          </a:p>
        </p:txBody>
      </p:sp>
      <p:pic>
        <p:nvPicPr>
          <p:cNvPr id="5" name="Picture 4">
            <a:extLst>
              <a:ext uri="{FF2B5EF4-FFF2-40B4-BE49-F238E27FC236}">
                <a16:creationId xmlns:a16="http://schemas.microsoft.com/office/drawing/2014/main" id="{F618C7AD-C29B-440F-A3C1-61D183B1B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0768" y="5245966"/>
            <a:ext cx="2179204" cy="523009"/>
          </a:xfrm>
          <a:prstGeom prst="rect">
            <a:avLst/>
          </a:prstGeom>
        </p:spPr>
      </p:pic>
    </p:spTree>
    <p:extLst>
      <p:ext uri="{BB962C8B-B14F-4D97-AF65-F5344CB8AC3E}">
        <p14:creationId xmlns:p14="http://schemas.microsoft.com/office/powerpoint/2010/main" val="2606344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10C06-0CAC-481E-87BB-24049AAB0CF7}"/>
              </a:ext>
            </a:extLst>
          </p:cNvPr>
          <p:cNvSpPr>
            <a:spLocks noGrp="1"/>
          </p:cNvSpPr>
          <p:nvPr>
            <p:ph type="title"/>
          </p:nvPr>
        </p:nvSpPr>
        <p:spPr>
          <a:xfrm>
            <a:off x="2343993" y="900545"/>
            <a:ext cx="10026650" cy="655637"/>
          </a:xfrm>
        </p:spPr>
        <p:txBody>
          <a:bodyPr/>
          <a:lstStyle/>
          <a:p>
            <a:r>
              <a:rPr lang="tr-TR" dirty="0"/>
              <a:t>macOS version information</a:t>
            </a:r>
          </a:p>
        </p:txBody>
      </p:sp>
      <p:pic>
        <p:nvPicPr>
          <p:cNvPr id="9" name="Content Placeholder 8" descr="Timeline&#10;&#10;Description automatically generated">
            <a:extLst>
              <a:ext uri="{FF2B5EF4-FFF2-40B4-BE49-F238E27FC236}">
                <a16:creationId xmlns:a16="http://schemas.microsoft.com/office/drawing/2014/main" id="{06A375DB-435F-4F50-A22D-2E16E1E828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3" y="1666875"/>
            <a:ext cx="12369240" cy="4290580"/>
          </a:xfrm>
        </p:spPr>
      </p:pic>
    </p:spTree>
    <p:extLst>
      <p:ext uri="{BB962C8B-B14F-4D97-AF65-F5344CB8AC3E}">
        <p14:creationId xmlns:p14="http://schemas.microsoft.com/office/powerpoint/2010/main" val="1831312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CC013-5B18-44BE-B18B-4DBBA33C61E1}"/>
              </a:ext>
            </a:extLst>
          </p:cNvPr>
          <p:cNvSpPr>
            <a:spLocks noGrp="1"/>
          </p:cNvSpPr>
          <p:nvPr>
            <p:ph type="title"/>
          </p:nvPr>
        </p:nvSpPr>
        <p:spPr/>
        <p:txBody>
          <a:bodyPr>
            <a:normAutofit fontScale="90000"/>
          </a:bodyPr>
          <a:lstStyle/>
          <a:p>
            <a:r>
              <a:rPr lang="en-US" b="1" i="0" dirty="0">
                <a:effectLst/>
                <a:latin typeface="Nunito Sans" pitchFamily="2" charset="-94"/>
              </a:rPr>
              <a:t>Key Differences Between Linux and MAC and Windows</a:t>
            </a:r>
            <a:br>
              <a:rPr lang="en-US" b="1" i="0" dirty="0">
                <a:solidFill>
                  <a:srgbClr val="232C39"/>
                </a:solidFill>
                <a:effectLst/>
                <a:latin typeface="Nunito Sans" pitchFamily="2" charset="-94"/>
              </a:rPr>
            </a:br>
            <a:endParaRPr lang="tr-TR" dirty="0"/>
          </a:p>
        </p:txBody>
      </p:sp>
      <p:sp>
        <p:nvSpPr>
          <p:cNvPr id="3" name="Content Placeholder 2">
            <a:extLst>
              <a:ext uri="{FF2B5EF4-FFF2-40B4-BE49-F238E27FC236}">
                <a16:creationId xmlns:a16="http://schemas.microsoft.com/office/drawing/2014/main" id="{0BCF5290-F2AA-480A-8A4D-F643EEDDABE6}"/>
              </a:ext>
            </a:extLst>
          </p:cNvPr>
          <p:cNvSpPr>
            <a:spLocks noGrp="1"/>
          </p:cNvSpPr>
          <p:nvPr>
            <p:ph idx="1"/>
          </p:nvPr>
        </p:nvSpPr>
        <p:spPr>
          <a:xfrm>
            <a:off x="1079500" y="2483427"/>
            <a:ext cx="10026650" cy="3978275"/>
          </a:xfrm>
        </p:spPr>
        <p:txBody>
          <a:bodyPr>
            <a:normAutofit/>
          </a:bodyPr>
          <a:lstStyle/>
          <a:p>
            <a:r>
              <a:rPr lang="en-US" sz="2400" dirty="0"/>
              <a:t>These are the most used operating systems. Though all three are widely used, there are significant differences between Linux vs MAC vs Windows. Windows is dominant over the other two as 90% of users prefer Windows. Linux is the least used operating system, with users accounting for 1%. MAC is popular and has an overall user base of 7% over the world.</a:t>
            </a:r>
            <a:endParaRPr lang="tr-TR" sz="2400" dirty="0"/>
          </a:p>
        </p:txBody>
      </p:sp>
    </p:spTree>
    <p:extLst>
      <p:ext uri="{BB962C8B-B14F-4D97-AF65-F5344CB8AC3E}">
        <p14:creationId xmlns:p14="http://schemas.microsoft.com/office/powerpoint/2010/main" val="1392450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1EA7A-DCE8-4674-8F32-26845B6C1938}"/>
              </a:ext>
            </a:extLst>
          </p:cNvPr>
          <p:cNvSpPr>
            <a:spLocks noGrp="1"/>
          </p:cNvSpPr>
          <p:nvPr>
            <p:ph type="title"/>
          </p:nvPr>
        </p:nvSpPr>
        <p:spPr/>
        <p:txBody>
          <a:bodyPr>
            <a:normAutofit fontScale="90000"/>
          </a:bodyPr>
          <a:lstStyle/>
          <a:p>
            <a:r>
              <a:rPr lang="en-US" b="1" i="0" dirty="0">
                <a:effectLst/>
                <a:latin typeface="Nunito Sans" pitchFamily="2" charset="-94"/>
              </a:rPr>
              <a:t>Key Differences Between Linux and MAC and Windows</a:t>
            </a:r>
            <a:endParaRPr lang="tr-TR" dirty="0"/>
          </a:p>
        </p:txBody>
      </p:sp>
      <p:sp>
        <p:nvSpPr>
          <p:cNvPr id="3" name="Content Placeholder 2">
            <a:extLst>
              <a:ext uri="{FF2B5EF4-FFF2-40B4-BE49-F238E27FC236}">
                <a16:creationId xmlns:a16="http://schemas.microsoft.com/office/drawing/2014/main" id="{7D81BE9C-832E-48E4-A840-87E92C27FB60}"/>
              </a:ext>
            </a:extLst>
          </p:cNvPr>
          <p:cNvSpPr>
            <a:spLocks noGrp="1"/>
          </p:cNvSpPr>
          <p:nvPr>
            <p:ph idx="1"/>
          </p:nvPr>
        </p:nvSpPr>
        <p:spPr>
          <a:xfrm>
            <a:off x="1079500" y="2414154"/>
            <a:ext cx="10026650" cy="3978275"/>
          </a:xfrm>
        </p:spPr>
        <p:txBody>
          <a:bodyPr>
            <a:normAutofit/>
          </a:bodyPr>
          <a:lstStyle/>
          <a:p>
            <a:r>
              <a:rPr lang="en-US" sz="2400" dirty="0"/>
              <a:t>When it comes to the risk of malware, Windows is the most prone. This is due to a larger user base. Linux is very unlikely to be affected by malware. MAC is similar when it comes to Malware.</a:t>
            </a:r>
            <a:endParaRPr lang="tr-TR" sz="2400" dirty="0"/>
          </a:p>
          <a:p>
            <a:r>
              <a:rPr lang="en-US" sz="2400" dirty="0"/>
              <a:t>Windows is expensive, and the cost starts from $100. Linux is free, and anyone can download and use it. MAC is costlier than Windows, and the user is forced to buy a MAC system built by Apple.</a:t>
            </a:r>
            <a:endParaRPr lang="tr-TR" sz="2400" dirty="0"/>
          </a:p>
        </p:txBody>
      </p:sp>
    </p:spTree>
    <p:extLst>
      <p:ext uri="{BB962C8B-B14F-4D97-AF65-F5344CB8AC3E}">
        <p14:creationId xmlns:p14="http://schemas.microsoft.com/office/powerpoint/2010/main" val="4100804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A8089-BC97-4467-A457-D8A58F856A51}"/>
              </a:ext>
            </a:extLst>
          </p:cNvPr>
          <p:cNvSpPr>
            <a:spLocks noGrp="1"/>
          </p:cNvSpPr>
          <p:nvPr>
            <p:ph type="title"/>
          </p:nvPr>
        </p:nvSpPr>
        <p:spPr>
          <a:xfrm>
            <a:off x="3074555" y="511824"/>
            <a:ext cx="10026650" cy="655637"/>
          </a:xfrm>
        </p:spPr>
        <p:txBody>
          <a:bodyPr/>
          <a:lstStyle/>
          <a:p>
            <a:r>
              <a:rPr lang="tr-TR" dirty="0"/>
              <a:t>file structure difference</a:t>
            </a:r>
          </a:p>
        </p:txBody>
      </p:sp>
      <p:graphicFrame>
        <p:nvGraphicFramePr>
          <p:cNvPr id="4" name="Table 4">
            <a:extLst>
              <a:ext uri="{FF2B5EF4-FFF2-40B4-BE49-F238E27FC236}">
                <a16:creationId xmlns:a16="http://schemas.microsoft.com/office/drawing/2014/main" id="{5023BB6D-9C71-4BD1-9779-8C3FE4EBAB7B}"/>
              </a:ext>
            </a:extLst>
          </p:cNvPr>
          <p:cNvGraphicFramePr>
            <a:graphicFrameLocks noGrp="1"/>
          </p:cNvGraphicFramePr>
          <p:nvPr>
            <p:ph idx="1"/>
          </p:nvPr>
        </p:nvGraphicFramePr>
        <p:xfrm>
          <a:off x="387927" y="1416843"/>
          <a:ext cx="11305308" cy="5067084"/>
        </p:xfrm>
        <a:graphic>
          <a:graphicData uri="http://schemas.openxmlformats.org/drawingml/2006/table">
            <a:tbl>
              <a:tblPr firstRow="1" bandRow="1">
                <a:tableStyleId>{5C22544A-7EE6-4342-B048-85BDC9FD1C3A}</a:tableStyleId>
              </a:tblPr>
              <a:tblGrid>
                <a:gridCol w="3768436">
                  <a:extLst>
                    <a:ext uri="{9D8B030D-6E8A-4147-A177-3AD203B41FA5}">
                      <a16:colId xmlns:a16="http://schemas.microsoft.com/office/drawing/2014/main" val="3235283609"/>
                    </a:ext>
                  </a:extLst>
                </a:gridCol>
                <a:gridCol w="3768436">
                  <a:extLst>
                    <a:ext uri="{9D8B030D-6E8A-4147-A177-3AD203B41FA5}">
                      <a16:colId xmlns:a16="http://schemas.microsoft.com/office/drawing/2014/main" val="2431389723"/>
                    </a:ext>
                  </a:extLst>
                </a:gridCol>
                <a:gridCol w="3768436">
                  <a:extLst>
                    <a:ext uri="{9D8B030D-6E8A-4147-A177-3AD203B41FA5}">
                      <a16:colId xmlns:a16="http://schemas.microsoft.com/office/drawing/2014/main" val="2835142067"/>
                    </a:ext>
                  </a:extLst>
                </a:gridCol>
              </a:tblGrid>
              <a:tr h="813739">
                <a:tc>
                  <a:txBody>
                    <a:bodyPr/>
                    <a:lstStyle/>
                    <a:p>
                      <a:r>
                        <a:rPr lang="tr-TR" sz="3600" dirty="0"/>
                        <a:t>      Windows</a:t>
                      </a:r>
                    </a:p>
                  </a:txBody>
                  <a:tcPr/>
                </a:tc>
                <a:tc>
                  <a:txBody>
                    <a:bodyPr/>
                    <a:lstStyle/>
                    <a:p>
                      <a:r>
                        <a:rPr lang="tr-TR" sz="3600" dirty="0"/>
                        <a:t>        macOS</a:t>
                      </a:r>
                    </a:p>
                  </a:txBody>
                  <a:tcPr/>
                </a:tc>
                <a:tc>
                  <a:txBody>
                    <a:bodyPr/>
                    <a:lstStyle/>
                    <a:p>
                      <a:r>
                        <a:rPr lang="tr-TR" sz="3600" dirty="0"/>
                        <a:t>          Linux</a:t>
                      </a:r>
                    </a:p>
                  </a:txBody>
                  <a:tcPr/>
                </a:tc>
                <a:extLst>
                  <a:ext uri="{0D108BD9-81ED-4DB2-BD59-A6C34878D82A}">
                    <a16:rowId xmlns:a16="http://schemas.microsoft.com/office/drawing/2014/main" val="1645810595"/>
                  </a:ext>
                </a:extLst>
              </a:tr>
              <a:tr h="4253345">
                <a:tc>
                  <a:txBody>
                    <a:bodyPr/>
                    <a:lstStyle/>
                    <a:p>
                      <a:r>
                        <a:rPr lang="en-US" sz="1800" b="0" i="0" kern="1200" dirty="0">
                          <a:solidFill>
                            <a:schemeClr val="dk1"/>
                          </a:solidFill>
                          <a:effectLst/>
                          <a:latin typeface="+mn-lt"/>
                          <a:ea typeface="+mn-ea"/>
                          <a:cs typeface="+mn-cs"/>
                        </a:rPr>
                        <a:t>Windows follows a directory structure to store the different kinds of files of the user. It has logical drives and cabinet drawers. It also has folders. Some common folders like documents, pictures, music, videos, and downloads. All these files can be stored in these folders, and also new folders can be created. It also has files which can be a spreadsheet or an application program. It can have extensions as .txt, .jpg etc.</a:t>
                      </a:r>
                      <a:endParaRPr lang="tr-TR" dirty="0"/>
                    </a:p>
                  </a:txBody>
                  <a:tcPr/>
                </a:tc>
                <a:tc>
                  <a:txBody>
                    <a:bodyPr/>
                    <a:lstStyle/>
                    <a:p>
                      <a:r>
                        <a:rPr lang="en-US" sz="2000" b="0" i="0" kern="1200" dirty="0">
                          <a:solidFill>
                            <a:schemeClr val="dk1"/>
                          </a:solidFill>
                          <a:effectLst/>
                          <a:latin typeface="+mn-lt"/>
                          <a:ea typeface="+mn-ea"/>
                          <a:cs typeface="+mn-cs"/>
                        </a:rPr>
                        <a:t>The file structure of MAC is commonly known as MAC OS X. If you go to dig into your MAC’s hard disk through the finder, you will see many directories. The root directory of MAC may encounter when they visit their own MAC book. You can explore the file system and directory structure by going to directories like /Application, /Developer, /</a:t>
                      </a:r>
                      <a:r>
                        <a:rPr lang="en-US" sz="2000" b="0" i="0" kern="1200" dirty="0" err="1">
                          <a:solidFill>
                            <a:schemeClr val="dk1"/>
                          </a:solidFill>
                          <a:effectLst/>
                          <a:latin typeface="+mn-lt"/>
                          <a:ea typeface="+mn-ea"/>
                          <a:cs typeface="+mn-cs"/>
                        </a:rPr>
                        <a:t>sbin</a:t>
                      </a:r>
                      <a:r>
                        <a:rPr lang="en-US" sz="2000" b="0" i="0" kern="1200" dirty="0">
                          <a:solidFill>
                            <a:schemeClr val="dk1"/>
                          </a:solidFill>
                          <a:effectLst/>
                          <a:latin typeface="+mn-lt"/>
                          <a:ea typeface="+mn-ea"/>
                          <a:cs typeface="+mn-cs"/>
                        </a:rPr>
                        <a:t>, /</a:t>
                      </a:r>
                      <a:r>
                        <a:rPr lang="en-US" sz="2000" b="0" i="0" kern="1200" dirty="0" err="1">
                          <a:solidFill>
                            <a:schemeClr val="dk1"/>
                          </a:solidFill>
                          <a:effectLst/>
                          <a:latin typeface="+mn-lt"/>
                          <a:ea typeface="+mn-ea"/>
                          <a:cs typeface="+mn-cs"/>
                        </a:rPr>
                        <a:t>tmp</a:t>
                      </a:r>
                      <a:r>
                        <a:rPr lang="en-US" sz="2000" b="0" i="0" kern="1200" dirty="0">
                          <a:solidFill>
                            <a:schemeClr val="dk1"/>
                          </a:solidFill>
                          <a:effectLst/>
                          <a:latin typeface="+mn-lt"/>
                          <a:ea typeface="+mn-ea"/>
                          <a:cs typeface="+mn-cs"/>
                        </a:rPr>
                        <a:t>, etc.</a:t>
                      </a:r>
                      <a:endParaRPr lang="tr-TR" sz="2000" dirty="0"/>
                    </a:p>
                  </a:txBody>
                  <a:tcPr/>
                </a:tc>
                <a:tc>
                  <a:txBody>
                    <a:bodyPr/>
                    <a:lstStyle/>
                    <a:p>
                      <a:r>
                        <a:rPr lang="en-US" sz="2400" b="0" i="0" kern="1200" dirty="0">
                          <a:solidFill>
                            <a:schemeClr val="dk1"/>
                          </a:solidFill>
                          <a:effectLst/>
                          <a:latin typeface="+mn-lt"/>
                          <a:ea typeface="+mn-ea"/>
                          <a:cs typeface="+mn-cs"/>
                        </a:rPr>
                        <a:t>Linux has a completely different file structure form Windows and MAC. It was developed with a different code base. It stores data in the form of a tree. There is a single file tree, and all your drives are mounted over this tree.</a:t>
                      </a:r>
                      <a:endParaRPr lang="tr-TR" sz="2400" dirty="0"/>
                    </a:p>
                  </a:txBody>
                  <a:tcPr/>
                </a:tc>
                <a:extLst>
                  <a:ext uri="{0D108BD9-81ED-4DB2-BD59-A6C34878D82A}">
                    <a16:rowId xmlns:a16="http://schemas.microsoft.com/office/drawing/2014/main" val="2635074841"/>
                  </a:ext>
                </a:extLst>
              </a:tr>
            </a:tbl>
          </a:graphicData>
        </a:graphic>
      </p:graphicFrame>
    </p:spTree>
    <p:extLst>
      <p:ext uri="{BB962C8B-B14F-4D97-AF65-F5344CB8AC3E}">
        <p14:creationId xmlns:p14="http://schemas.microsoft.com/office/powerpoint/2010/main" val="999595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4BA97-F402-448F-B0AF-FE872915993D}"/>
              </a:ext>
            </a:extLst>
          </p:cNvPr>
          <p:cNvSpPr>
            <a:spLocks noGrp="1"/>
          </p:cNvSpPr>
          <p:nvPr>
            <p:ph type="title"/>
          </p:nvPr>
        </p:nvSpPr>
        <p:spPr>
          <a:xfrm>
            <a:off x="3323936" y="433388"/>
            <a:ext cx="10026650" cy="655637"/>
          </a:xfrm>
        </p:spPr>
        <p:txBody>
          <a:bodyPr/>
          <a:lstStyle/>
          <a:p>
            <a:r>
              <a:rPr lang="tr-TR" dirty="0"/>
              <a:t>Registry difference</a:t>
            </a:r>
          </a:p>
        </p:txBody>
      </p:sp>
      <p:graphicFrame>
        <p:nvGraphicFramePr>
          <p:cNvPr id="4" name="Table 4">
            <a:extLst>
              <a:ext uri="{FF2B5EF4-FFF2-40B4-BE49-F238E27FC236}">
                <a16:creationId xmlns:a16="http://schemas.microsoft.com/office/drawing/2014/main" id="{DF23C073-BD32-4E8F-A3A5-076B259ADC9B}"/>
              </a:ext>
            </a:extLst>
          </p:cNvPr>
          <p:cNvGraphicFramePr>
            <a:graphicFrameLocks noGrp="1"/>
          </p:cNvGraphicFramePr>
          <p:nvPr>
            <p:ph idx="1"/>
            <p:extLst>
              <p:ext uri="{D42A27DB-BD31-4B8C-83A1-F6EECF244321}">
                <p14:modId xmlns:p14="http://schemas.microsoft.com/office/powerpoint/2010/main" val="2807699408"/>
              </p:ext>
            </p:extLst>
          </p:nvPr>
        </p:nvGraphicFramePr>
        <p:xfrm>
          <a:off x="318654" y="1555172"/>
          <a:ext cx="11554692" cy="5059680"/>
        </p:xfrm>
        <a:graphic>
          <a:graphicData uri="http://schemas.openxmlformats.org/drawingml/2006/table">
            <a:tbl>
              <a:tblPr firstRow="1" bandRow="1">
                <a:tableStyleId>{5C22544A-7EE6-4342-B048-85BDC9FD1C3A}</a:tableStyleId>
              </a:tblPr>
              <a:tblGrid>
                <a:gridCol w="3851564">
                  <a:extLst>
                    <a:ext uri="{9D8B030D-6E8A-4147-A177-3AD203B41FA5}">
                      <a16:colId xmlns:a16="http://schemas.microsoft.com/office/drawing/2014/main" val="2492247693"/>
                    </a:ext>
                  </a:extLst>
                </a:gridCol>
                <a:gridCol w="3851564">
                  <a:extLst>
                    <a:ext uri="{9D8B030D-6E8A-4147-A177-3AD203B41FA5}">
                      <a16:colId xmlns:a16="http://schemas.microsoft.com/office/drawing/2014/main" val="573104590"/>
                    </a:ext>
                  </a:extLst>
                </a:gridCol>
                <a:gridCol w="3851564">
                  <a:extLst>
                    <a:ext uri="{9D8B030D-6E8A-4147-A177-3AD203B41FA5}">
                      <a16:colId xmlns:a16="http://schemas.microsoft.com/office/drawing/2014/main" val="312188605"/>
                    </a:ext>
                  </a:extLst>
                </a:gridCol>
              </a:tblGrid>
              <a:tr h="370840">
                <a:tc>
                  <a:txBody>
                    <a:bodyPr/>
                    <a:lstStyle/>
                    <a:p>
                      <a:r>
                        <a:rPr lang="tr-TR" sz="3200" dirty="0"/>
                        <a:t>         Windows</a:t>
                      </a:r>
                    </a:p>
                  </a:txBody>
                  <a:tcPr/>
                </a:tc>
                <a:tc>
                  <a:txBody>
                    <a:bodyPr/>
                    <a:lstStyle/>
                    <a:p>
                      <a:r>
                        <a:rPr lang="tr-TR" sz="3200" dirty="0"/>
                        <a:t>            macOS</a:t>
                      </a:r>
                    </a:p>
                  </a:txBody>
                  <a:tcPr/>
                </a:tc>
                <a:tc>
                  <a:txBody>
                    <a:bodyPr/>
                    <a:lstStyle/>
                    <a:p>
                      <a:r>
                        <a:rPr lang="tr-TR" sz="3200" dirty="0"/>
                        <a:t>             Linux</a:t>
                      </a:r>
                    </a:p>
                  </a:txBody>
                  <a:tcPr/>
                </a:tc>
                <a:extLst>
                  <a:ext uri="{0D108BD9-81ED-4DB2-BD59-A6C34878D82A}">
                    <a16:rowId xmlns:a16="http://schemas.microsoft.com/office/drawing/2014/main" val="137459293"/>
                  </a:ext>
                </a:extLst>
              </a:tr>
              <a:tr h="3989878">
                <a:tc>
                  <a:txBody>
                    <a:bodyPr/>
                    <a:lstStyle/>
                    <a:p>
                      <a:r>
                        <a:rPr lang="en-US" sz="2400" b="0" i="0" kern="1200" dirty="0">
                          <a:solidFill>
                            <a:schemeClr val="dk1"/>
                          </a:solidFill>
                          <a:effectLst/>
                          <a:latin typeface="+mn-lt"/>
                          <a:ea typeface="+mn-ea"/>
                          <a:cs typeface="+mn-cs"/>
                        </a:rPr>
                        <a:t>Windows registry is a master database that is used to store all settings on your computer. It is responsible for storing all user information with its passwords, and device relate information. The registry also has an editor which allows you to view all keys and values or even drivers if necessary.</a:t>
                      </a:r>
                      <a:endParaRPr lang="tr-TR" sz="2400" dirty="0"/>
                    </a:p>
                  </a:txBody>
                  <a:tcPr/>
                </a:tc>
                <a:tc>
                  <a:txBody>
                    <a:bodyPr/>
                    <a:lstStyle/>
                    <a:p>
                      <a:r>
                        <a:rPr lang="en-US" sz="2400" b="0" i="0" kern="1200" dirty="0">
                          <a:solidFill>
                            <a:schemeClr val="dk1"/>
                          </a:solidFill>
                          <a:effectLst/>
                          <a:latin typeface="+mn-lt"/>
                          <a:ea typeface="+mn-ea"/>
                          <a:cs typeface="+mn-cs"/>
                        </a:rPr>
                        <a:t>MAC stores all application settings in a series of .</a:t>
                      </a:r>
                      <a:r>
                        <a:rPr lang="en-US" sz="2400" b="0" i="0" kern="1200" dirty="0" err="1">
                          <a:solidFill>
                            <a:schemeClr val="dk1"/>
                          </a:solidFill>
                          <a:effectLst/>
                          <a:latin typeface="+mn-lt"/>
                          <a:ea typeface="+mn-ea"/>
                          <a:cs typeface="+mn-cs"/>
                        </a:rPr>
                        <a:t>plist</a:t>
                      </a:r>
                      <a:r>
                        <a:rPr lang="en-US" sz="2400" b="0" i="0" kern="1200" dirty="0">
                          <a:solidFill>
                            <a:schemeClr val="dk1"/>
                          </a:solidFill>
                          <a:effectLst/>
                          <a:latin typeface="+mn-lt"/>
                          <a:ea typeface="+mn-ea"/>
                          <a:cs typeface="+mn-cs"/>
                        </a:rPr>
                        <a:t> files, which have the various preferences folder in MAC. This .</a:t>
                      </a:r>
                      <a:r>
                        <a:rPr lang="en-US" sz="2400" b="0" i="0" kern="1200" dirty="0" err="1">
                          <a:solidFill>
                            <a:schemeClr val="dk1"/>
                          </a:solidFill>
                          <a:effectLst/>
                          <a:latin typeface="+mn-lt"/>
                          <a:ea typeface="+mn-ea"/>
                          <a:cs typeface="+mn-cs"/>
                        </a:rPr>
                        <a:t>plist</a:t>
                      </a:r>
                      <a:r>
                        <a:rPr lang="en-US" sz="2400" b="0" i="0" kern="1200" dirty="0">
                          <a:solidFill>
                            <a:schemeClr val="dk1"/>
                          </a:solidFill>
                          <a:effectLst/>
                          <a:latin typeface="+mn-lt"/>
                          <a:ea typeface="+mn-ea"/>
                          <a:cs typeface="+mn-cs"/>
                        </a:rPr>
                        <a:t> file contains all properties in either plain text or binary format. These are stored at:</a:t>
                      </a:r>
                    </a:p>
                    <a:p>
                      <a:r>
                        <a:rPr lang="en-US" sz="2400" b="0" i="0" kern="1200" dirty="0">
                          <a:solidFill>
                            <a:schemeClr val="dk1"/>
                          </a:solidFill>
                          <a:effectLst/>
                          <a:latin typeface="+mn-lt"/>
                          <a:ea typeface="+mn-ea"/>
                          <a:cs typeface="+mn-cs"/>
                        </a:rPr>
                        <a:t>/Library/Preferences folder</a:t>
                      </a:r>
                    </a:p>
                    <a:p>
                      <a:endParaRPr lang="tr-TR" dirty="0"/>
                    </a:p>
                  </a:txBody>
                  <a:tcPr/>
                </a:tc>
                <a:tc>
                  <a:txBody>
                    <a:bodyPr/>
                    <a:lstStyle/>
                    <a:p>
                      <a:r>
                        <a:rPr lang="en-US" sz="2400" b="0" i="0" kern="1200" dirty="0">
                          <a:solidFill>
                            <a:schemeClr val="dk1"/>
                          </a:solidFill>
                          <a:effectLst/>
                          <a:latin typeface="+mn-lt"/>
                          <a:ea typeface="+mn-ea"/>
                          <a:cs typeface="+mn-cs"/>
                        </a:rPr>
                        <a:t>Linux also does not have a specific registry of its own. All application setting is stored on a program basis under the different users in the same hierarchy format of the files being stored. There is no centralized database for storing these details, and so periodic cleaning is also not required</a:t>
                      </a:r>
                      <a:r>
                        <a:rPr lang="en-US" sz="1800" b="0" i="0" kern="1200" dirty="0">
                          <a:solidFill>
                            <a:schemeClr val="dk1"/>
                          </a:solidFill>
                          <a:effectLst/>
                          <a:latin typeface="+mn-lt"/>
                          <a:ea typeface="+mn-ea"/>
                          <a:cs typeface="+mn-cs"/>
                        </a:rPr>
                        <a:t>.</a:t>
                      </a:r>
                      <a:endParaRPr lang="tr-TR" dirty="0"/>
                    </a:p>
                  </a:txBody>
                  <a:tcPr/>
                </a:tc>
                <a:extLst>
                  <a:ext uri="{0D108BD9-81ED-4DB2-BD59-A6C34878D82A}">
                    <a16:rowId xmlns:a16="http://schemas.microsoft.com/office/drawing/2014/main" val="1298516853"/>
                  </a:ext>
                </a:extLst>
              </a:tr>
            </a:tbl>
          </a:graphicData>
        </a:graphic>
      </p:graphicFrame>
    </p:spTree>
    <p:extLst>
      <p:ext uri="{BB962C8B-B14F-4D97-AF65-F5344CB8AC3E}">
        <p14:creationId xmlns:p14="http://schemas.microsoft.com/office/powerpoint/2010/main" val="2922986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444EC-99FB-49AF-B8F1-9B5EF16B5900}"/>
              </a:ext>
            </a:extLst>
          </p:cNvPr>
          <p:cNvSpPr>
            <a:spLocks noGrp="1"/>
          </p:cNvSpPr>
          <p:nvPr>
            <p:ph type="title"/>
          </p:nvPr>
        </p:nvSpPr>
        <p:spPr>
          <a:xfrm>
            <a:off x="1439718" y="433388"/>
            <a:ext cx="10026650" cy="655637"/>
          </a:xfrm>
        </p:spPr>
        <p:txBody>
          <a:bodyPr>
            <a:normAutofit fontScale="90000"/>
          </a:bodyPr>
          <a:lstStyle/>
          <a:p>
            <a:r>
              <a:rPr lang="tr-TR" dirty="0"/>
              <a:t>Interchangeable Interfaces difference</a:t>
            </a:r>
          </a:p>
        </p:txBody>
      </p:sp>
      <p:graphicFrame>
        <p:nvGraphicFramePr>
          <p:cNvPr id="4" name="Table 4">
            <a:extLst>
              <a:ext uri="{FF2B5EF4-FFF2-40B4-BE49-F238E27FC236}">
                <a16:creationId xmlns:a16="http://schemas.microsoft.com/office/drawing/2014/main" id="{B4BBED36-BFB7-474B-9BF7-1ABFA1DD2DDF}"/>
              </a:ext>
            </a:extLst>
          </p:cNvPr>
          <p:cNvGraphicFramePr>
            <a:graphicFrameLocks noGrp="1"/>
          </p:cNvGraphicFramePr>
          <p:nvPr>
            <p:ph idx="1"/>
            <p:extLst>
              <p:ext uri="{D42A27DB-BD31-4B8C-83A1-F6EECF244321}">
                <p14:modId xmlns:p14="http://schemas.microsoft.com/office/powerpoint/2010/main" val="3486957854"/>
              </p:ext>
            </p:extLst>
          </p:nvPr>
        </p:nvGraphicFramePr>
        <p:xfrm>
          <a:off x="332509" y="1564668"/>
          <a:ext cx="11526981" cy="4859944"/>
        </p:xfrm>
        <a:graphic>
          <a:graphicData uri="http://schemas.openxmlformats.org/drawingml/2006/table">
            <a:tbl>
              <a:tblPr firstRow="1" bandRow="1">
                <a:tableStyleId>{5C22544A-7EE6-4342-B048-85BDC9FD1C3A}</a:tableStyleId>
              </a:tblPr>
              <a:tblGrid>
                <a:gridCol w="3842327">
                  <a:extLst>
                    <a:ext uri="{9D8B030D-6E8A-4147-A177-3AD203B41FA5}">
                      <a16:colId xmlns:a16="http://schemas.microsoft.com/office/drawing/2014/main" val="924181680"/>
                    </a:ext>
                  </a:extLst>
                </a:gridCol>
                <a:gridCol w="3842327">
                  <a:extLst>
                    <a:ext uri="{9D8B030D-6E8A-4147-A177-3AD203B41FA5}">
                      <a16:colId xmlns:a16="http://schemas.microsoft.com/office/drawing/2014/main" val="3006500448"/>
                    </a:ext>
                  </a:extLst>
                </a:gridCol>
                <a:gridCol w="3842327">
                  <a:extLst>
                    <a:ext uri="{9D8B030D-6E8A-4147-A177-3AD203B41FA5}">
                      <a16:colId xmlns:a16="http://schemas.microsoft.com/office/drawing/2014/main" val="3840023239"/>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3200" dirty="0"/>
                        <a:t>         Windows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3200" dirty="0"/>
                        <a:t>           macOS</a:t>
                      </a:r>
                    </a:p>
                  </a:txBody>
                  <a:tcPr/>
                </a:tc>
                <a:tc>
                  <a:txBody>
                    <a:bodyPr/>
                    <a:lstStyle/>
                    <a:p>
                      <a:r>
                        <a:rPr lang="tr-TR" sz="3200" dirty="0"/>
                        <a:t>             Linux</a:t>
                      </a:r>
                    </a:p>
                  </a:txBody>
                  <a:tcPr/>
                </a:tc>
                <a:extLst>
                  <a:ext uri="{0D108BD9-81ED-4DB2-BD59-A6C34878D82A}">
                    <a16:rowId xmlns:a16="http://schemas.microsoft.com/office/drawing/2014/main" val="3356238739"/>
                  </a:ext>
                </a:extLst>
              </a:tr>
              <a:tr h="4280824">
                <a:tc>
                  <a:txBody>
                    <a:bodyPr/>
                    <a:lstStyle/>
                    <a:p>
                      <a:r>
                        <a:rPr lang="en-US" sz="2400" b="0" i="0" kern="1200" dirty="0">
                          <a:solidFill>
                            <a:schemeClr val="dk1"/>
                          </a:solidFill>
                          <a:effectLst/>
                          <a:latin typeface="+mn-lt"/>
                          <a:ea typeface="+mn-ea"/>
                          <a:cs typeface="+mn-cs"/>
                        </a:rPr>
                        <a:t>Windows interface was not interchangeable until Windows 8. Windows XP had some improvements but not par. Start menu, taskbar, system tray, and Windows Explorer.</a:t>
                      </a:r>
                      <a:endParaRPr lang="tr-TR" sz="2400" dirty="0"/>
                    </a:p>
                  </a:txBody>
                  <a:tcPr/>
                </a:tc>
                <a:tc>
                  <a:txBody>
                    <a:bodyPr/>
                    <a:lstStyle/>
                    <a:p>
                      <a:r>
                        <a:rPr lang="en-US" sz="2800" b="0" i="0" kern="1200" dirty="0">
                          <a:solidFill>
                            <a:schemeClr val="dk1"/>
                          </a:solidFill>
                          <a:effectLst/>
                          <a:latin typeface="+mn-lt"/>
                          <a:ea typeface="+mn-ea"/>
                          <a:cs typeface="+mn-cs"/>
                        </a:rPr>
                        <a:t>MAC has a facility to bridge virtual network interfaces. This can be done by going to system preferences and managing the interfaces.</a:t>
                      </a:r>
                      <a:endParaRPr lang="tr-TR" sz="2800" dirty="0"/>
                    </a:p>
                  </a:txBody>
                  <a:tcPr/>
                </a:tc>
                <a:tc>
                  <a:txBody>
                    <a:bodyPr/>
                    <a:lstStyle/>
                    <a:p>
                      <a:r>
                        <a:rPr lang="en-US" sz="2400" b="0" i="0" kern="1200" dirty="0">
                          <a:solidFill>
                            <a:schemeClr val="dk1"/>
                          </a:solidFill>
                          <a:effectLst/>
                          <a:latin typeface="+mn-lt"/>
                          <a:ea typeface="+mn-ea"/>
                          <a:cs typeface="+mn-cs"/>
                        </a:rPr>
                        <a:t>Linux is easy to switch interfaces. You can switch the environment without having to carry all installations. There are utilities like GNOME and KDE which help in catering to these needs. They help in focusing on different aspects.</a:t>
                      </a:r>
                      <a:endParaRPr lang="tr-TR" sz="2400" dirty="0"/>
                    </a:p>
                  </a:txBody>
                  <a:tcPr/>
                </a:tc>
                <a:extLst>
                  <a:ext uri="{0D108BD9-81ED-4DB2-BD59-A6C34878D82A}">
                    <a16:rowId xmlns:a16="http://schemas.microsoft.com/office/drawing/2014/main" val="2981859105"/>
                  </a:ext>
                </a:extLst>
              </a:tr>
            </a:tbl>
          </a:graphicData>
        </a:graphic>
      </p:graphicFrame>
    </p:spTree>
    <p:extLst>
      <p:ext uri="{BB962C8B-B14F-4D97-AF65-F5344CB8AC3E}">
        <p14:creationId xmlns:p14="http://schemas.microsoft.com/office/powerpoint/2010/main" val="221073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41110-6AF1-46CB-8DFD-5A4A628C0B80}"/>
              </a:ext>
            </a:extLst>
          </p:cNvPr>
          <p:cNvSpPr>
            <a:spLocks noGrp="1"/>
          </p:cNvSpPr>
          <p:nvPr>
            <p:ph type="title"/>
          </p:nvPr>
        </p:nvSpPr>
        <p:spPr>
          <a:xfrm>
            <a:off x="1716809" y="524886"/>
            <a:ext cx="10026650" cy="655637"/>
          </a:xfrm>
        </p:spPr>
        <p:txBody>
          <a:bodyPr/>
          <a:lstStyle/>
          <a:p>
            <a:r>
              <a:rPr lang="tr-TR" dirty="0"/>
              <a:t>Command terminal difference</a:t>
            </a:r>
          </a:p>
        </p:txBody>
      </p:sp>
      <p:graphicFrame>
        <p:nvGraphicFramePr>
          <p:cNvPr id="4" name="Table 4">
            <a:extLst>
              <a:ext uri="{FF2B5EF4-FFF2-40B4-BE49-F238E27FC236}">
                <a16:creationId xmlns:a16="http://schemas.microsoft.com/office/drawing/2014/main" id="{2A662CB5-E7D3-46DB-864E-433D7B05AD2C}"/>
              </a:ext>
            </a:extLst>
          </p:cNvPr>
          <p:cNvGraphicFramePr>
            <a:graphicFrameLocks noGrp="1"/>
          </p:cNvGraphicFramePr>
          <p:nvPr>
            <p:ph idx="1"/>
            <p:extLst>
              <p:ext uri="{D42A27DB-BD31-4B8C-83A1-F6EECF244321}">
                <p14:modId xmlns:p14="http://schemas.microsoft.com/office/powerpoint/2010/main" val="1365678466"/>
              </p:ext>
            </p:extLst>
          </p:nvPr>
        </p:nvGraphicFramePr>
        <p:xfrm>
          <a:off x="360220" y="1556759"/>
          <a:ext cx="11383239" cy="4876800"/>
        </p:xfrm>
        <a:graphic>
          <a:graphicData uri="http://schemas.openxmlformats.org/drawingml/2006/table">
            <a:tbl>
              <a:tblPr firstRow="1" bandRow="1">
                <a:tableStyleId>{5C22544A-7EE6-4342-B048-85BDC9FD1C3A}</a:tableStyleId>
              </a:tblPr>
              <a:tblGrid>
                <a:gridCol w="3794413">
                  <a:extLst>
                    <a:ext uri="{9D8B030D-6E8A-4147-A177-3AD203B41FA5}">
                      <a16:colId xmlns:a16="http://schemas.microsoft.com/office/drawing/2014/main" val="2546198133"/>
                    </a:ext>
                  </a:extLst>
                </a:gridCol>
                <a:gridCol w="3794413">
                  <a:extLst>
                    <a:ext uri="{9D8B030D-6E8A-4147-A177-3AD203B41FA5}">
                      <a16:colId xmlns:a16="http://schemas.microsoft.com/office/drawing/2014/main" val="1618754425"/>
                    </a:ext>
                  </a:extLst>
                </a:gridCol>
                <a:gridCol w="3794413">
                  <a:extLst>
                    <a:ext uri="{9D8B030D-6E8A-4147-A177-3AD203B41FA5}">
                      <a16:colId xmlns:a16="http://schemas.microsoft.com/office/drawing/2014/main" val="294660901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3200" dirty="0"/>
                        <a:t>        Windows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3200" dirty="0"/>
                        <a:t>          macOS</a:t>
                      </a:r>
                    </a:p>
                  </a:txBody>
                  <a:tcPr/>
                </a:tc>
                <a:tc>
                  <a:txBody>
                    <a:bodyPr/>
                    <a:lstStyle/>
                    <a:p>
                      <a:r>
                        <a:rPr lang="tr-TR" sz="3200" dirty="0"/>
                        <a:t>         Linux</a:t>
                      </a:r>
                    </a:p>
                  </a:txBody>
                  <a:tcPr/>
                </a:tc>
                <a:extLst>
                  <a:ext uri="{0D108BD9-81ED-4DB2-BD59-A6C34878D82A}">
                    <a16:rowId xmlns:a16="http://schemas.microsoft.com/office/drawing/2014/main" val="2063066862"/>
                  </a:ext>
                </a:extLst>
              </a:tr>
              <a:tr h="4197235">
                <a:tc>
                  <a:txBody>
                    <a:bodyPr/>
                    <a:lstStyle/>
                    <a:p>
                      <a:r>
                        <a:rPr lang="en-US" sz="2300" b="0" i="0" kern="1200" dirty="0">
                          <a:solidFill>
                            <a:schemeClr val="dk1"/>
                          </a:solidFill>
                          <a:effectLst/>
                          <a:latin typeface="+mn-lt"/>
                          <a:ea typeface="+mn-ea"/>
                          <a:cs typeface="+mn-cs"/>
                        </a:rPr>
                        <a:t>A terminal or command prompt is a black box ideally used to execute commands. It is also called the Windows Command Processor. It is used to execute commands and different batch files. It can also be used for administrative functions and troubleshoot and solve all windows issues.</a:t>
                      </a:r>
                      <a:endParaRPr lang="tr-TR" sz="2300" dirty="0"/>
                    </a:p>
                  </a:txBody>
                  <a:tcPr/>
                </a:tc>
                <a:tc>
                  <a:txBody>
                    <a:bodyPr/>
                    <a:lstStyle/>
                    <a:p>
                      <a:r>
                        <a:rPr lang="en-US" sz="1900" b="0" i="0" kern="1200" dirty="0">
                          <a:solidFill>
                            <a:schemeClr val="dk1"/>
                          </a:solidFill>
                          <a:effectLst/>
                          <a:latin typeface="+mn-lt"/>
                          <a:ea typeface="+mn-ea"/>
                          <a:cs typeface="+mn-cs"/>
                        </a:rPr>
                        <a:t>MAC provides a console as a terminal application. It has a console, command line, prompt and terminal. A Command-line is used to type your commands. Prompt will provide you with some information and also enable you to run commands. A terminal is an actual interface that will provide the modern graphical user interface as well.</a:t>
                      </a:r>
                    </a:p>
                    <a:p>
                      <a:r>
                        <a:rPr lang="en-US" sz="1900" b="0" i="0" kern="1200" dirty="0">
                          <a:solidFill>
                            <a:schemeClr val="dk1"/>
                          </a:solidFill>
                          <a:effectLst/>
                          <a:latin typeface="+mn-lt"/>
                          <a:ea typeface="+mn-ea"/>
                          <a:cs typeface="+mn-cs"/>
                        </a:rPr>
                        <a:t>You can find the terminal at Applications -&gt; Utilities.</a:t>
                      </a:r>
                    </a:p>
                    <a:p>
                      <a:endParaRPr lang="tr-TR" dirty="0"/>
                    </a:p>
                  </a:txBody>
                  <a:tcPr/>
                </a:tc>
                <a:tc>
                  <a:txBody>
                    <a:bodyPr/>
                    <a:lstStyle/>
                    <a:p>
                      <a:r>
                        <a:rPr lang="en-US" sz="2400" b="0" i="0" kern="1200" dirty="0">
                          <a:solidFill>
                            <a:schemeClr val="dk1"/>
                          </a:solidFill>
                          <a:effectLst/>
                          <a:latin typeface="+mn-lt"/>
                          <a:ea typeface="+mn-ea"/>
                          <a:cs typeface="+mn-cs"/>
                        </a:rPr>
                        <a:t>Linux also provides a terminal. You can find terminal at: Applications -&gt; System or Applications -&gt; Utilities. In addition to this, there is also a shell prompt. The most common shell used in bash. It defines how the terminal will behave and look when it is run.</a:t>
                      </a:r>
                      <a:endParaRPr lang="tr-TR" sz="2400" dirty="0"/>
                    </a:p>
                  </a:txBody>
                  <a:tcPr/>
                </a:tc>
                <a:extLst>
                  <a:ext uri="{0D108BD9-81ED-4DB2-BD59-A6C34878D82A}">
                    <a16:rowId xmlns:a16="http://schemas.microsoft.com/office/drawing/2014/main" val="2183763015"/>
                  </a:ext>
                </a:extLst>
              </a:tr>
            </a:tbl>
          </a:graphicData>
        </a:graphic>
      </p:graphicFrame>
    </p:spTree>
    <p:extLst>
      <p:ext uri="{BB962C8B-B14F-4D97-AF65-F5344CB8AC3E}">
        <p14:creationId xmlns:p14="http://schemas.microsoft.com/office/powerpoint/2010/main" val="4051507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AA0C2-66CD-4644-BB5E-ADA7CCC1DE41}"/>
              </a:ext>
            </a:extLst>
          </p:cNvPr>
          <p:cNvSpPr>
            <a:spLocks noGrp="1"/>
          </p:cNvSpPr>
          <p:nvPr>
            <p:ph type="title"/>
          </p:nvPr>
        </p:nvSpPr>
        <p:spPr>
          <a:xfrm>
            <a:off x="4404592" y="950479"/>
            <a:ext cx="10026650" cy="655637"/>
          </a:xfrm>
        </p:spPr>
        <p:txBody>
          <a:bodyPr/>
          <a:lstStyle/>
          <a:p>
            <a:r>
              <a:rPr lang="tr-TR" dirty="0"/>
              <a:t>conclusion</a:t>
            </a:r>
          </a:p>
        </p:txBody>
      </p:sp>
      <p:sp>
        <p:nvSpPr>
          <p:cNvPr id="3" name="Content Placeholder 2">
            <a:extLst>
              <a:ext uri="{FF2B5EF4-FFF2-40B4-BE49-F238E27FC236}">
                <a16:creationId xmlns:a16="http://schemas.microsoft.com/office/drawing/2014/main" id="{0583A961-F2DF-4CCA-902A-1CAC290CEB72}"/>
              </a:ext>
            </a:extLst>
          </p:cNvPr>
          <p:cNvSpPr>
            <a:spLocks noGrp="1"/>
          </p:cNvSpPr>
          <p:nvPr>
            <p:ph idx="1"/>
          </p:nvPr>
        </p:nvSpPr>
        <p:spPr>
          <a:xfrm>
            <a:off x="1082675" y="1929246"/>
            <a:ext cx="10026650" cy="3978275"/>
          </a:xfrm>
        </p:spPr>
        <p:txBody>
          <a:bodyPr>
            <a:normAutofit/>
          </a:bodyPr>
          <a:lstStyle/>
          <a:p>
            <a:r>
              <a:rPr lang="en-US" sz="3200" b="0" i="0" dirty="0">
                <a:solidFill>
                  <a:schemeClr val="tx1"/>
                </a:solidFill>
                <a:effectLst/>
                <a:latin typeface="Nunito Sans" pitchFamily="2" charset="-94"/>
              </a:rPr>
              <a:t>All these operating systems have their own pros and cons. It depends on the user and their choices and preferences of what they expect from the operating system. Windows can be used for playing games. Programmers can use Linux, and people who are interested in graphics can use MAC.</a:t>
            </a:r>
            <a:endParaRPr lang="tr-TR" sz="3200" dirty="0">
              <a:solidFill>
                <a:schemeClr val="tx1"/>
              </a:solidFill>
            </a:endParaRPr>
          </a:p>
        </p:txBody>
      </p:sp>
    </p:spTree>
    <p:extLst>
      <p:ext uri="{BB962C8B-B14F-4D97-AF65-F5344CB8AC3E}">
        <p14:creationId xmlns:p14="http://schemas.microsoft.com/office/powerpoint/2010/main" val="3024290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BB86D-0B47-4D9A-B199-8A84E6300100}"/>
              </a:ext>
            </a:extLst>
          </p:cNvPr>
          <p:cNvSpPr>
            <a:spLocks noGrp="1"/>
          </p:cNvSpPr>
          <p:nvPr>
            <p:ph type="title"/>
          </p:nvPr>
        </p:nvSpPr>
        <p:spPr>
          <a:xfrm>
            <a:off x="4224482" y="524886"/>
            <a:ext cx="10026650" cy="655637"/>
          </a:xfrm>
        </p:spPr>
        <p:txBody>
          <a:bodyPr/>
          <a:lstStyle/>
          <a:p>
            <a:r>
              <a:rPr lang="tr-TR" dirty="0"/>
              <a:t>references</a:t>
            </a:r>
          </a:p>
        </p:txBody>
      </p:sp>
      <p:sp>
        <p:nvSpPr>
          <p:cNvPr id="3" name="Content Placeholder 2">
            <a:extLst>
              <a:ext uri="{FF2B5EF4-FFF2-40B4-BE49-F238E27FC236}">
                <a16:creationId xmlns:a16="http://schemas.microsoft.com/office/drawing/2014/main" id="{C94CE365-9078-44DB-8EF6-3B7F5DD9259F}"/>
              </a:ext>
            </a:extLst>
          </p:cNvPr>
          <p:cNvSpPr>
            <a:spLocks noGrp="1"/>
          </p:cNvSpPr>
          <p:nvPr>
            <p:ph idx="1"/>
          </p:nvPr>
        </p:nvSpPr>
        <p:spPr>
          <a:xfrm>
            <a:off x="1079500" y="1790700"/>
            <a:ext cx="10026650" cy="4337384"/>
          </a:xfrm>
        </p:spPr>
        <p:txBody>
          <a:bodyPr>
            <a:normAutofit lnSpcReduction="10000"/>
          </a:bodyPr>
          <a:lstStyle/>
          <a:p>
            <a:r>
              <a:rPr lang="tr-TR" dirty="0">
                <a:hlinkClick r:id="rId2"/>
              </a:rPr>
              <a:t>https://tr.wikipedia.org/wiki/Anasayfa</a:t>
            </a:r>
            <a:endParaRPr lang="tr-TR" dirty="0"/>
          </a:p>
          <a:p>
            <a:r>
              <a:rPr lang="tr-TR" dirty="0">
                <a:hlinkClick r:id="rId3"/>
              </a:rPr>
              <a:t>https://forum.shiftdelete.net/konular/mac-os-windows-linux-isletim-sistemleri-hakkinda.610735/</a:t>
            </a:r>
            <a:endParaRPr lang="tr-TR" dirty="0"/>
          </a:p>
          <a:p>
            <a:r>
              <a:rPr lang="tr-TR" dirty="0">
                <a:hlinkClick r:id="rId4"/>
              </a:rPr>
              <a:t>https://www.teknoloji6.com/mac-isletim-sistemi-nedir-941/</a:t>
            </a:r>
            <a:endParaRPr lang="tr-TR" dirty="0"/>
          </a:p>
          <a:p>
            <a:r>
              <a:rPr lang="tr-TR" dirty="0">
                <a:hlinkClick r:id="rId5"/>
              </a:rPr>
              <a:t>http://www.informatics-tech.com/linux-vs-mac-vs-windows-unbiased-comparison.html</a:t>
            </a:r>
            <a:endParaRPr lang="tr-TR" dirty="0"/>
          </a:p>
          <a:p>
            <a:r>
              <a:rPr lang="tr-TR" dirty="0">
                <a:hlinkClick r:id="rId6"/>
              </a:rPr>
              <a:t>https://web.karabuk.edu.tr/ismail.karas/113/IsletimSistemleri.pdf</a:t>
            </a:r>
            <a:endParaRPr lang="tr-TR" dirty="0"/>
          </a:p>
          <a:p>
            <a:r>
              <a:rPr lang="tr-TR" dirty="0">
                <a:hlinkClick r:id="rId7"/>
              </a:rPr>
              <a:t>https://www.educba.com/linux-vs-mac-vs-windows/</a:t>
            </a:r>
            <a:endParaRPr lang="tr-TR" dirty="0"/>
          </a:p>
          <a:p>
            <a:r>
              <a:rPr lang="tr-TR" dirty="0">
                <a:hlinkClick r:id="rId8"/>
              </a:rPr>
              <a:t>http://web.hitit.edu.tr/dosyalar/duyurular/mustafacosar@hititedutr201020141S8E1N1P.pdf</a:t>
            </a:r>
            <a:endParaRPr lang="tr-TR" dirty="0"/>
          </a:p>
          <a:p>
            <a:endParaRPr lang="tr-TR" dirty="0"/>
          </a:p>
        </p:txBody>
      </p:sp>
    </p:spTree>
    <p:extLst>
      <p:ext uri="{BB962C8B-B14F-4D97-AF65-F5344CB8AC3E}">
        <p14:creationId xmlns:p14="http://schemas.microsoft.com/office/powerpoint/2010/main" val="431702483"/>
      </p:ext>
    </p:extLst>
  </p:cSld>
  <p:clrMapOvr>
    <a:masterClrMapping/>
  </p:clrMapOvr>
</p:sld>
</file>

<file path=ppt/theme/theme1.xml><?xml version="1.0" encoding="utf-8"?>
<a:theme xmlns:a="http://schemas.openxmlformats.org/drawingml/2006/main" name="LeafVTI">
  <a:themeElements>
    <a:clrScheme name="AnalogousFromRegularSeed_2SEEDS">
      <a:dk1>
        <a:srgbClr val="000000"/>
      </a:dk1>
      <a:lt1>
        <a:srgbClr val="FFFFFF"/>
      </a:lt1>
      <a:dk2>
        <a:srgbClr val="2F241B"/>
      </a:dk2>
      <a:lt2>
        <a:srgbClr val="F0F1F3"/>
      </a:lt2>
      <a:accent1>
        <a:srgbClr val="C09D18"/>
      </a:accent1>
      <a:accent2>
        <a:srgbClr val="E4722C"/>
      </a:accent2>
      <a:accent3>
        <a:srgbClr val="8EAB21"/>
      </a:accent3>
      <a:accent4>
        <a:srgbClr val="1A7FD2"/>
      </a:accent4>
      <a:accent5>
        <a:srgbClr val="2C45E4"/>
      </a:accent5>
      <a:accent6>
        <a:srgbClr val="5E2ED6"/>
      </a:accent6>
      <a:hlink>
        <a:srgbClr val="3F59BF"/>
      </a:hlink>
      <a:folHlink>
        <a:srgbClr val="7F7F7F"/>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Berlin</Template>
  <TotalTime>63</TotalTime>
  <Words>1533</Words>
  <Application>Microsoft Office PowerPoint</Application>
  <PresentationFormat>Widescreen</PresentationFormat>
  <Paragraphs>79</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Avenir Next LT Pro Light</vt:lpstr>
      <vt:lpstr>Calibri</vt:lpstr>
      <vt:lpstr>Nunito Sans</vt:lpstr>
      <vt:lpstr>Rockwell Nova Light</vt:lpstr>
      <vt:lpstr>Wingdings</vt:lpstr>
      <vt:lpstr>LeafVTI</vt:lpstr>
      <vt:lpstr>operating systems</vt:lpstr>
      <vt:lpstr>What is operating system?</vt:lpstr>
      <vt:lpstr>Microsoft Windows operating system</vt:lpstr>
      <vt:lpstr>Microsoft Windows operating system</vt:lpstr>
      <vt:lpstr>Linux operating system</vt:lpstr>
      <vt:lpstr>Linux operating system</vt:lpstr>
      <vt:lpstr>macOS operating system</vt:lpstr>
      <vt:lpstr>macOS operating system</vt:lpstr>
      <vt:lpstr>macOS version information</vt:lpstr>
      <vt:lpstr>Key Differences Between Linux and MAC and Windows </vt:lpstr>
      <vt:lpstr>Key Differences Between Linux and MAC and Windows</vt:lpstr>
      <vt:lpstr>file structure difference</vt:lpstr>
      <vt:lpstr>Registry difference</vt:lpstr>
      <vt:lpstr>Interchangeable Interfaces difference</vt:lpstr>
      <vt:lpstr>Command terminal difference</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Samet Sarı</dc:creator>
  <cp:lastModifiedBy>Samet Sarı</cp:lastModifiedBy>
  <cp:revision>2</cp:revision>
  <dcterms:created xsi:type="dcterms:W3CDTF">2021-11-18T01:00:08Z</dcterms:created>
  <dcterms:modified xsi:type="dcterms:W3CDTF">2021-11-18T02:07:17Z</dcterms:modified>
</cp:coreProperties>
</file>